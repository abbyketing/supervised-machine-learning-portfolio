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1" r:id="rId2"/>
    <p:sldId id="262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CAA6E9-6A13-498F-9F51-52809DC4778B}" v="1" dt="2026-03-27T13:38:35.5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90" d="100"/>
          <a:sy n="90" d="100"/>
        </p:scale>
        <p:origin x="14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H KE TING" userId="40fef732-b837-491d-b009-18c893e995dd" providerId="ADAL" clId="{5C74FD94-D309-480F-B00B-160A24EA88FD}"/>
    <pc:docChg chg="undo custSel delSld modSld">
      <pc:chgData name="TOH KE TING" userId="40fef732-b837-491d-b009-18c893e995dd" providerId="ADAL" clId="{5C74FD94-D309-480F-B00B-160A24EA88FD}" dt="2026-03-27T13:38:52.380" v="570" actId="20577"/>
      <pc:docMkLst>
        <pc:docMk/>
      </pc:docMkLst>
      <pc:sldChg chg="del">
        <pc:chgData name="TOH KE TING" userId="40fef732-b837-491d-b009-18c893e995dd" providerId="ADAL" clId="{5C74FD94-D309-480F-B00B-160A24EA88FD}" dt="2026-03-27T13:38:10.620" v="546" actId="2696"/>
        <pc:sldMkLst>
          <pc:docMk/>
          <pc:sldMk cId="3025919104" sldId="256"/>
        </pc:sldMkLst>
      </pc:sldChg>
      <pc:sldChg chg="addSp delSp modSp del mod">
        <pc:chgData name="TOH KE TING" userId="40fef732-b837-491d-b009-18c893e995dd" providerId="ADAL" clId="{5C74FD94-D309-480F-B00B-160A24EA88FD}" dt="2026-03-27T13:38:14.174" v="547" actId="2696"/>
        <pc:sldMkLst>
          <pc:docMk/>
          <pc:sldMk cId="3950293386" sldId="257"/>
        </pc:sldMkLst>
        <pc:spChg chg="mod">
          <ac:chgData name="TOH KE TING" userId="40fef732-b837-491d-b009-18c893e995dd" providerId="ADAL" clId="{5C74FD94-D309-480F-B00B-160A24EA88FD}" dt="2026-03-20T06:09:39.218" v="109" actId="20577"/>
          <ac:spMkLst>
            <pc:docMk/>
            <pc:sldMk cId="3950293386" sldId="257"/>
            <ac:spMk id="9" creationId="{D8A08F8C-7082-ABD9-8B57-B32322DBE62A}"/>
          </ac:spMkLst>
        </pc:spChg>
        <pc:spChg chg="mod">
          <ac:chgData name="TOH KE TING" userId="40fef732-b837-491d-b009-18c893e995dd" providerId="ADAL" clId="{5C74FD94-D309-480F-B00B-160A24EA88FD}" dt="2026-03-20T06:04:30.232" v="5" actId="20577"/>
          <ac:spMkLst>
            <pc:docMk/>
            <pc:sldMk cId="3950293386" sldId="257"/>
            <ac:spMk id="10" creationId="{4832C31F-C66D-F301-A4DD-7CA42A1DD823}"/>
          </ac:spMkLst>
        </pc:spChg>
        <pc:picChg chg="add mod">
          <ac:chgData name="TOH KE TING" userId="40fef732-b837-491d-b009-18c893e995dd" providerId="ADAL" clId="{5C74FD94-D309-480F-B00B-160A24EA88FD}" dt="2026-03-20T06:05:41.060" v="14" actId="1036"/>
          <ac:picMkLst>
            <pc:docMk/>
            <pc:sldMk cId="3950293386" sldId="257"/>
            <ac:picMk id="3" creationId="{168111F4-61AE-C027-A943-7CDF88995B7A}"/>
          </ac:picMkLst>
        </pc:picChg>
        <pc:picChg chg="add mod">
          <ac:chgData name="TOH KE TING" userId="40fef732-b837-491d-b009-18c893e995dd" providerId="ADAL" clId="{5C74FD94-D309-480F-B00B-160A24EA88FD}" dt="2026-03-20T06:08:44.097" v="87" actId="1038"/>
          <ac:picMkLst>
            <pc:docMk/>
            <pc:sldMk cId="3950293386" sldId="257"/>
            <ac:picMk id="6" creationId="{FC191D5D-2FB8-AB6D-12AF-FBDA4BF3B3F1}"/>
          </ac:picMkLst>
        </pc:picChg>
        <pc:picChg chg="add mod">
          <ac:chgData name="TOH KE TING" userId="40fef732-b837-491d-b009-18c893e995dd" providerId="ADAL" clId="{5C74FD94-D309-480F-B00B-160A24EA88FD}" dt="2026-03-20T06:08:36.853" v="80" actId="1035"/>
          <ac:picMkLst>
            <pc:docMk/>
            <pc:sldMk cId="3950293386" sldId="257"/>
            <ac:picMk id="11" creationId="{825718A1-780B-B6E7-3EC0-1BDBC68B2B2E}"/>
          </ac:picMkLst>
        </pc:picChg>
      </pc:sldChg>
      <pc:sldChg chg="addSp delSp modSp del mod">
        <pc:chgData name="TOH KE TING" userId="40fef732-b837-491d-b009-18c893e995dd" providerId="ADAL" clId="{5C74FD94-D309-480F-B00B-160A24EA88FD}" dt="2026-03-27T13:38:16.690" v="548" actId="2696"/>
        <pc:sldMkLst>
          <pc:docMk/>
          <pc:sldMk cId="2824241865" sldId="258"/>
        </pc:sldMkLst>
        <pc:spChg chg="mod">
          <ac:chgData name="TOH KE TING" userId="40fef732-b837-491d-b009-18c893e995dd" providerId="ADAL" clId="{5C74FD94-D309-480F-B00B-160A24EA88FD}" dt="2026-03-20T06:12:55.659" v="141" actId="20577"/>
          <ac:spMkLst>
            <pc:docMk/>
            <pc:sldMk cId="2824241865" sldId="258"/>
            <ac:spMk id="16" creationId="{977062FF-B85D-7517-99C0-EA01131CCF86}"/>
          </ac:spMkLst>
        </pc:spChg>
        <pc:spChg chg="mod">
          <ac:chgData name="TOH KE TING" userId="40fef732-b837-491d-b009-18c893e995dd" providerId="ADAL" clId="{5C74FD94-D309-480F-B00B-160A24EA88FD}" dt="2026-03-20T06:18:13.831" v="221" actId="20577"/>
          <ac:spMkLst>
            <pc:docMk/>
            <pc:sldMk cId="2824241865" sldId="258"/>
            <ac:spMk id="18" creationId="{3B74D8A4-0D27-37CE-6C77-FA787CB08EF5}"/>
          </ac:spMkLst>
        </pc:spChg>
        <pc:picChg chg="add mod">
          <ac:chgData name="TOH KE TING" userId="40fef732-b837-491d-b009-18c893e995dd" providerId="ADAL" clId="{5C74FD94-D309-480F-B00B-160A24EA88FD}" dt="2026-03-20T06:14:27.624" v="162" actId="1038"/>
          <ac:picMkLst>
            <pc:docMk/>
            <pc:sldMk cId="2824241865" sldId="258"/>
            <ac:picMk id="5" creationId="{3EB1454E-A4CC-E7ED-67F0-D54D3A95C9C7}"/>
          </ac:picMkLst>
        </pc:picChg>
        <pc:picChg chg="add mod">
          <ac:chgData name="TOH KE TING" userId="40fef732-b837-491d-b009-18c893e995dd" providerId="ADAL" clId="{5C74FD94-D309-480F-B00B-160A24EA88FD}" dt="2026-03-20T06:14:25.655" v="161" actId="1038"/>
          <ac:picMkLst>
            <pc:docMk/>
            <pc:sldMk cId="2824241865" sldId="258"/>
            <ac:picMk id="7" creationId="{534FAE89-F30C-75A8-290C-E42E030DB031}"/>
          </ac:picMkLst>
        </pc:picChg>
        <pc:picChg chg="add mod">
          <ac:chgData name="TOH KE TING" userId="40fef732-b837-491d-b009-18c893e995dd" providerId="ADAL" clId="{5C74FD94-D309-480F-B00B-160A24EA88FD}" dt="2026-03-20T06:16:56.744" v="211" actId="14100"/>
          <ac:picMkLst>
            <pc:docMk/>
            <pc:sldMk cId="2824241865" sldId="258"/>
            <ac:picMk id="11" creationId="{759B0C66-577A-690E-E3BB-ED7EB497A6C3}"/>
          </ac:picMkLst>
        </pc:picChg>
        <pc:picChg chg="add mod">
          <ac:chgData name="TOH KE TING" userId="40fef732-b837-491d-b009-18c893e995dd" providerId="ADAL" clId="{5C74FD94-D309-480F-B00B-160A24EA88FD}" dt="2026-03-20T06:16:49.867" v="210" actId="1037"/>
          <ac:picMkLst>
            <pc:docMk/>
            <pc:sldMk cId="2824241865" sldId="258"/>
            <ac:picMk id="15" creationId="{76B846B4-FDC0-3A3B-80B0-AE8A387B06A8}"/>
          </ac:picMkLst>
        </pc:picChg>
      </pc:sldChg>
      <pc:sldChg chg="addSp delSp modSp del mod">
        <pc:chgData name="TOH KE TING" userId="40fef732-b837-491d-b009-18c893e995dd" providerId="ADAL" clId="{5C74FD94-D309-480F-B00B-160A24EA88FD}" dt="2026-03-27T13:38:18.989" v="549" actId="2696"/>
        <pc:sldMkLst>
          <pc:docMk/>
          <pc:sldMk cId="3425312589" sldId="259"/>
        </pc:sldMkLst>
        <pc:spChg chg="mod">
          <ac:chgData name="TOH KE TING" userId="40fef732-b837-491d-b009-18c893e995dd" providerId="ADAL" clId="{5C74FD94-D309-480F-B00B-160A24EA88FD}" dt="2026-03-20T06:23:17.021" v="358" actId="20577"/>
          <ac:spMkLst>
            <pc:docMk/>
            <pc:sldMk cId="3425312589" sldId="259"/>
            <ac:spMk id="3" creationId="{B289F13F-ED5A-4B7D-3A83-FBFE3C4A638F}"/>
          </ac:spMkLst>
        </pc:spChg>
        <pc:picChg chg="add mod">
          <ac:chgData name="TOH KE TING" userId="40fef732-b837-491d-b009-18c893e995dd" providerId="ADAL" clId="{5C74FD94-D309-480F-B00B-160A24EA88FD}" dt="2026-03-20T06:19:49.022" v="248" actId="1036"/>
          <ac:picMkLst>
            <pc:docMk/>
            <pc:sldMk cId="3425312589" sldId="259"/>
            <ac:picMk id="6" creationId="{74F1711F-F8F5-8946-D937-CD73C97BDD93}"/>
          </ac:picMkLst>
        </pc:picChg>
        <pc:picChg chg="add mod">
          <ac:chgData name="TOH KE TING" userId="40fef732-b837-491d-b009-18c893e995dd" providerId="ADAL" clId="{5C74FD94-D309-480F-B00B-160A24EA88FD}" dt="2026-03-20T06:22:37.543" v="338" actId="14100"/>
          <ac:picMkLst>
            <pc:docMk/>
            <pc:sldMk cId="3425312589" sldId="259"/>
            <ac:picMk id="11" creationId="{89E173CF-9FB2-F9E6-1774-31C31B007288}"/>
          </ac:picMkLst>
        </pc:picChg>
      </pc:sldChg>
      <pc:sldChg chg="modSp del mod">
        <pc:chgData name="TOH KE TING" userId="40fef732-b837-491d-b009-18c893e995dd" providerId="ADAL" clId="{5C74FD94-D309-480F-B00B-160A24EA88FD}" dt="2026-03-27T13:38:23.301" v="550" actId="2696"/>
        <pc:sldMkLst>
          <pc:docMk/>
          <pc:sldMk cId="2148343574" sldId="260"/>
        </pc:sldMkLst>
        <pc:spChg chg="mod">
          <ac:chgData name="TOH KE TING" userId="40fef732-b837-491d-b009-18c893e995dd" providerId="ADAL" clId="{5C74FD94-D309-480F-B00B-160A24EA88FD}" dt="2026-03-20T06:34:57.819" v="545" actId="20577"/>
          <ac:spMkLst>
            <pc:docMk/>
            <pc:sldMk cId="2148343574" sldId="260"/>
            <ac:spMk id="3" creationId="{45B78B3D-9A25-02A0-EEA9-2A2785435890}"/>
          </ac:spMkLst>
        </pc:spChg>
      </pc:sldChg>
      <pc:sldChg chg="modSp mod">
        <pc:chgData name="TOH KE TING" userId="40fef732-b837-491d-b009-18c893e995dd" providerId="ADAL" clId="{5C74FD94-D309-480F-B00B-160A24EA88FD}" dt="2026-03-27T13:38:52.380" v="570" actId="20577"/>
        <pc:sldMkLst>
          <pc:docMk/>
          <pc:sldMk cId="597600103" sldId="261"/>
        </pc:sldMkLst>
        <pc:spChg chg="mod">
          <ac:chgData name="TOH KE TING" userId="40fef732-b837-491d-b009-18c893e995dd" providerId="ADAL" clId="{5C74FD94-D309-480F-B00B-160A24EA88FD}" dt="2026-03-27T13:38:52.380" v="570" actId="20577"/>
          <ac:spMkLst>
            <pc:docMk/>
            <pc:sldMk cId="597600103" sldId="261"/>
            <ac:spMk id="2" creationId="{AB6FF251-CC11-C166-5874-BA83D6A2D468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02:40:31.75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6039.46094"/>
      <inkml:brushProperty name="anchorY" value="8039.51318"/>
      <inkml:brushProperty name="scaleFactor" value="0.5"/>
    </inkml:brush>
  </inkml:definitions>
  <inkml:trace contextRef="#ctx0" brushRef="#br0">13 989 24575,'0'0'0,"4"-4"0,7-7 0,3-8 0,4 1 0,4-4 0,-4 0 0,6-1 0,0 5 0,-3-1 0,4-5 0,0 4 0,1-1 0,4-4 0,5-2 0,-1 0 0,3 1 0,4 4 0,1 2 0,-2 0 0,-3 0 0,0 0 0,-3 2 0,-3 1 0,-2 3 0,-3 0 0,-1 3 0,3-2 0,0 2 0,5-1 0,-2 2 0,5-3 0,-2 3 0,2 2 0,-6-3 0,2 3 0,3 1 0,-3 3 0,0 1 0,-3-4 0,-2 2 0,3 0 0,0 2 0,3 0 0,4 2 0,-2 0 0,4 1 0,-4 0 0,3 0 0,2 0 0,-3 1 0,2-1 0,-3 0 0,2 0 0,1 0 0,7 0 0,3 0 0,1 0 0,0 0 0,-5 0 0,-5 0 0,-1 0 0,0 0 0,2 0 0,-4 0 0,-2 0 0,-4 0 0,-3 0 0,3 0 0,-2 5 0,4-1 0,-2 1 0,0-1 0,2 4 0,-1-1 0,-2-1 0,-1-2 0,-3-1 0,4-1 0,-1-1 0,0-1 0,2 0 0,5 0 0,3-1 0,-1 1 0,2-5 0,-3 0 0,-3 0 0,1 1 0,2-4 0,3-3 0,-2 0 0,-3-3 0,1 3 0,-2-8 0,1 3 0,3 2 0,8 0 0,-3 2 0,7-6 0,0-2 0,1 2 0,-1 0 0,5-2 0,-6 0 0,-1 3 0,-2 4 0,-4 4 0,-1-1 0,5 3 0,1 1 0,1-2 0,6 1 0,-5 1 0,-1 2 0,4-3 0,-5 0 0,-1 2 0,4-4 0,5 2 0,-5 0 0,0 3 0,-1 1 0,-7 1 0,-4 6 0,-2 1 0,-2 0 0,0-1 0,-1-1 0,2 4 0,3-1 0,-7 4 0,3-1 0,1 3 0,-5 3 0,1-1 0,3-3 0,0-4 0,2 3 0,3-2 0,-3 2 0,4 3 0,5 0 0,-2 1 0,1 3 0,6-3 0,-5 2 0,6 2 0,0-4 0,-1 2 0,-4 6 0,3 2 0,-1 1 0,1-3 0,-1-1 0,0-1 0,5 1 0,-6 0 0,5 1 0,-1 1 0,5 0 0,-6 0 0,4 1 0,2-5 0,-4-1 0,-2-3 0,-2-1 0,-1-3 0,-5-2 0,-1 1 0,-4-2 0,1 3 0,5-2 0,-6 3 0,6-2 0,-4-2 0,2-2 0,1-3 0,-3-1 0,1-1 0,5-1 0,-2-1 0,1 1 0,-4-1 0,5 1 0,6 0 0,-4 0 0,5 0 0,5 0 0,5 0 0,-2 0 0,-2-5 0,2 0 0,-7 0 0,-3 1 0,-2 2 0,-2 0 0,0 1 0,-1-4 0,1 0 0,5 0 0,0 2 0,5 0 0,0 1 0,-1 1 0,-2-4 0,2 0 0,-5 0 0,3 1 0,3 2 0,-5 0 0,3 1 0,3 1 0,-5 0 0,3 0 0,-6 0 0,-2 0 0,-2 5 0,-4 0 0,-1 0 0,-4 4 0,-3-1 0,1-1 0,2 2 0,-2-1 0,3 4 0,-2-3 0,6 8 0,3 3 0,8 3 0,-4-3 0,0-5 0,-1 5 0,0 1 0,-5 1 0,0 6 0,0 1 0,1 0 0,1-1 0,-4-1 0,-3 3 0,-5 0 0,1-2 0,-2 5 0,-6-2 0,-3-1 0,3-2 0,1 3 0,-5 4 0,4-1 0,0 3 0,1-2 0,-6 3 0,0-3 0,0 2 0,-4-3 0,0-7 0,-4-2 0,-3-3 0,-3-1 0,1 0 0,4 1 0,-1 0 0,-2 0 0,3 2 0,-2-1 0,3 0 0,3 1 0,-2 0 0,6-1 0,3 1 0,2-1 0,1 6 0,0-1 0,4 0 0,1 4 0,-1 4 0,-1-1 0,-1-2 0,-2 3 0,0-3 0,-2-2 0,1-2 0,-5 2 0,-1-5 0,1-2 0,-5 3 0,2-5 0,1 5 0,-4-1 0,3-4 0,-4 3 0,2 5 0,1-4 0,3 4 0,-2-1 0,-4 3 0,1 0 0,1-1 0,-1 2 0,-4-1 0,3-2 0,-3-1 0,-3-3 0,4 4 0,-2-1 0,3 0 0,-2 2 0,3 0 0,-1-1 0,-3 3 0,-2-1 0,2 2 0,-1 0 0,-2-3 0,-1 3 0,3 7 0,-1-1 0,0 3 0,-2-4 0,-2 6 0,0 1 0,-2 1 0,1 6 0,-1 0 0,-1 0 0,1-1 0,-9-2 0,-1 0 0,0-2 0,-3-1 0,3-4 0,-3-1 0,-7 4 0,-3-2 0,2-5 0,0 0 0,0 6 0,0-8 0,-1 6 0,4-4 0,-1-3 0,1 6 0,-2-3 0,0 1 0,-2 2 0,4-3 0,5 1 0,-1 2 0,3-4 0,4 1 0,-3-3 0,3-3 0,1 1 0,-3-7 0,2 3 0,1 3 0,1-1 0,3 3 0,0 8 0,1-1 0,1 2 0,1-4 0,-1 0 0,0 2 0,0-4 0,1 1 0,-1-3 0,0 2 0,0-4 0,4-2 0,1 2 0,0-3 0,-1-1 0,-1 3 0,-1 2 0,-1 5 0,-6 2 0,1-2 0,-6 1 0,-4 2 0,-3 0 0,-8-3 0,-2 1 0,-6 1 0,0 1 0,1-3 0,2-4 0,-3 0 0,-2 2 0,0-7 0,7-3 0,-2-2 0,-3-3 0,6 0 0,-8-5 0,2-1 0,0-4 0,-2 1 0,2-3 0,-3-3 0,-3 2 0,3-2 0,2-2 0,-2-1 0,3-3 0,-2 0 0,1-2 0,3 0 0,-2 0 0,1-1 0,-7 1 0,1 0 0,-3 0 0,-1 0 0,2-1 0,-1 1 0,-5 0 0,3 0 0,-1-4 0,4-1 0,-1-5 0,0-4 0,-6-3 0,3-3 0,-1 3 0,0-2 0,-1 0 0,5-1 0,-1-2 0,5 4 0,-1 5 0,-2-1 0,-1 4 0,-2-2 0,-2 3 0,4 1 0,-1 3 0,-1 2 0,0 2 0,-2 1 0,0 0 0,3 0 0,0 5 0,0 0 0,3 1 0,4-2 0,4 3 0,-1 0 0,1-1 0,7 3 0,2-2 0,1 0 0,0-2 0,0-2 0,5 3 0,-2 4 0,-4 5 0,-12 12 0,-6 4 0,-4 11 0,0-1 0,0 3 0,4-8 0,5-4 0,8-4 0,-1-3 0,2-6 0,-3 3 0,-5 5 0,-9 6 0,1 0 0,-2 0 0,-2-2 0,0-3 0,4 4 0,0-2 0,-1-2 0,0 0 0,3-7 0,0-1 0,-1 0 0,2-1 0,0 2 0,-1 0 0,2-3 0,-1-5 0,-1 1 0,2 0 0,-1-1 0,-2-4 0,8 3 0,-6 1 0,-2-1 0,-2-3 0,-2-2 0,3-3 0,0-2 0,4-1 0,4-1 0,-1 0 0,2-1 0,3 1 0,-2-1 0,-3 1 0,-4-5 0,1 0 0,3-4 0,4 0 0,-3 1 0,-2 3 0,2-4 0,1 2 0,-1-4 0,1-3 0,-2-3 0,2-3 0,1 3 0,-1 4 0,-4-6 0,-2-1 0,1 2 0,3 0 0,-2-1 0,3-2 0,-1 0 0,1-1 0,3 3 0,-3 1 0,3 4 0,1-1 0,2-1 0,-3-2 0,1 3 0,1-1 0,2 3 0,-9-2 0,1-1 0,-3 2 0,2 4 0,-3-2 0,3 3 0,3-3 0,-1 2 0,2-2 0,-3 2 0,2 2 0,2 3 0,-3-3 0,-2 1 0,1 2 0,2 1 0,3 1 0,2 2 0,-3 0 0,-3 1 0,-4 1 0,1-1 0,3 0 0,-3 5 0,4 5 0,-3 4 0,-3 0 0,3 6 0,2-1 0,-1-4 0,2 1 0,2 1 0,3-4 0,6 3 0,2-4 0,1-3 0,0 1 0,-2 3 0,0-2 0,-1 3 0,4 2 0,-1-2 0,-4 2 0,-2 1 0,0 3 0,-1 0 0,-4-2 0,0 0 0,1 0 0,-4-2 0,1 0 0,-3 1 0,-3 2 0,2-3 0,-3 0 0,3-2 0,3 0 0,-2 2 0,-2-2 0,2-4 0,-2 2 0,-3-3 0,3-2 0,2 3 0,4-3 0,2-1 0,-1 3 0,-4-1 0,1-2 0,1-2 0,2-1 0,2 3 0,3 0 0,0-1 0,-3-1 0,0-2 0,0 0 0,-4-2 0,1 0 0,1 0 0,6-4 0,2-1 0,2 0 0,0 0 0,3-2 0,1-5 0,-6 2 0,3-4 0,-2 2 0,1 3 0,-2-2 0,0-3 0,-1 2 0,0 2 0,-1-1 0,1-3 0,-1 2 0,1-2 0,-1 2 0,0-1 0,1 2 0,-1-3 0,5-1 0,-4 1 0,-1-1 0,-5 3 0,5-2 0,-1 3 0,2 2 0,0-1 0,0 2 0,5-3 0,-1 1 0,6-2 0,-2 2 0,-5 2 0,-3 2 0,-6 2 0,-1 2 0,0 1 0,1 1 0,1 1 0,-2-1 0,0 1 0,1-1 0,1 0 0,2 0 0,1 0 0,-4 0 0,0 0 0,1 0 0,1 0 0,6 5 0,0 0 0,2 5 0,-1-1 0,-1-1 0,0 2 0,-1-1 0,-1-2 0,-1 2 0,5 4 0,0-2 0,1-1 0,3 1 0,-1-2 0,-1 3 0,-2-2 0,-1 3 0,-6-3 0,3 3 0,0-2 0,0 2 0,0 2 0,0 3 0,0-3 0,0-3 0,0 2 0,-1 1 0,1 2 0,-1-2 0,-4-4 0,4 2 0,1-3 0,0 2 0,1-3 0,-1-1 0,0-3 0,1-2 0,-2-1 0,1-2 0,0 0 0,-1 0 0,1 0 0,-1-1 0,0 1 0,1 0 0,-1-1 0,1 1 0,-5 0 0,-1 0 0,1-4 0,0-1 0,7 0 0,0-3 0,6-5 0,0 2 0,-1 1 0,3-2 0,3 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02:41:05.29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gnorePressure" value="1"/>
      <inkml:brushProperty name="inkEffects" value="galaxy"/>
      <inkml:brushProperty name="anchorX" value="-15010.35059"/>
      <inkml:brushProperty name="anchorY" value="2854.21753"/>
      <inkml:brushProperty name="scaleFactor" value="0.5"/>
    </inkml:brush>
  </inkml:definitions>
  <inkml:trace contextRef="#ctx0" brushRef="#br0">1 1,'0'0,"0"8,0 17,0 13,0 13,0 19,0 12,0 13,0 9,0 3,0 5,0-3,0 2,0-3,0-9,0 2,0-3,0-1,0 3,0 0,0-1,0-6,0-1,0-1,0-9,0-1,0-3,0-2,0-3,0-1,0-1,0 4,0-5,0 5,0 3,0 1,0 4,0 3,0 3,0-7,0-3,0-5,0-11,0-2,0-1,0-7,0 1,0 2,0 0,0 2,0 9,0-7,0 7,0 6,0-3,0 1,0 4,0 0,0-4,0 3,0-1,0-4,0-2,0 1,0-1,0 1,0 6,0 0,0-4,0 4,0 0,0 4,0-5,0-1,0-1,0-6,0 0,0 0,0 5,0-2,0 5,0 0,0 6,0 4,0-1,0 4,0-3,0-3,0 2,0-7,0-2,0-3,0-5,0-1,0 1,0 0,0 2,0 1,0 6,0 6,0 9,0 5,0 8,0 0,0 1,0 2,0 4,0-2,0-3,0 3,0 1,0-2,0 3,0-3,0 2,0-3,0-2,0-8,0-3,0-1,0 0,0-9,0 0,0 1,0 2,0-7,0 3,0-3,0-2,0 2,0 0,0-2,0-6,0-2,0-1,0-4,0 0,0-4,0-3,0-3,0 1,0 0,0 2,0 4,0-1,0 3,0 2,0-3,0 21,0 7,0 10,0 9,0 5,0 9,0-8,0 1,0-6,0-4,0-5,0 2,0-11,0-2,0-6,0 0,0-7,0-4,0-2,0-1,0-1,0 1,0 1,0-6,0 2,0-1,0-3,0 1,0 1,0-3,0 1,0 2,0 2,0-3,0-4,0 1,0-7,0 1,0-7,0-1,0-2,0-4,0 0,0-4,0 1,0 2,0-3,0 2,0-3,0 3,0 1,0-2,0 1,0-2,0-3,0 1,0-1,0 1,0-1,0 3,0-3,0-1,0 2,0-2,0 3,0 2,0-1,0 3,0-3,0-3,0 1,0-1,0 2,0 2,0-1,0 2,0 3,0 1,0-2,0 1,0-4,0 1,0 2,0-3,0-3,0-4,0 3,0 2,0-1,0 3,0-2,0-3,0 3,0-3,0 3,0-2,0 3,0 2,0-1,0-3,0-3,0 2,0 2,0 0,0 1,0-1,0 2,0 3,0 1,0 8,0-8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C4E6D-E64F-419C-9927-F64D1576F22B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7A7937-9462-4EAF-BB9A-C7897A4E2FC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70080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A7937-9462-4EAF-BB9A-C7897A4E2FCE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11775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A7937-9462-4EAF-BB9A-C7897A4E2FCE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516703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A7937-9462-4EAF-BB9A-C7897A4E2FCE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94768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A7937-9462-4EAF-BB9A-C7897A4E2FCE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75171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45B39-828E-5921-404F-EBEFC75CE3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1CD643-7FD0-F17C-552C-E4448FDC19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2DB85-164D-6AB2-D4A5-17DF85C1F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B9C5-B4CD-42AA-957F-6CA7C4370C8B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5486D-50AE-A833-D819-267AC1B45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F9F24-2449-C793-AC26-F6D5DBA2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19A23-73C0-4AD4-AC6E-8D589855C35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26576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73E8E-6D51-2EF3-7F56-1A61A44B4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37B8C-2BA4-4464-BC19-425F687CC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192E7-9FBE-2D50-968B-4F72035EB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B9C5-B4CD-42AA-957F-6CA7C4370C8B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533B4-E5DF-DF59-0422-DBE07D9FF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C141B-156E-17C2-F5FE-87D5BF55B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19A23-73C0-4AD4-AC6E-8D589855C35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84579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89FC6-2A37-1478-6D09-058947A8E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3FB8D-9F08-295F-4074-CE9EE2F60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EF22D-58D0-CFE3-DA35-E72C5B987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B9C5-B4CD-42AA-957F-6CA7C4370C8B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065BB-52EA-BA90-52B2-D23A08D1B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C47D6-0AB9-93B6-04A4-DB914F120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19A23-73C0-4AD4-AC6E-8D589855C35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64125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BB500-A2F7-9AF1-2253-073DCE5B4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1C8F9-11A4-DC48-944D-593DE45B2A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9B5B51-909D-A6B0-7197-92634E823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2ABF1-9114-E31B-519F-997CBA30F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B9C5-B4CD-42AA-957F-6CA7C4370C8B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0EDBFF-3B36-4CCE-94E9-E3711A20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CFFF65-642B-42BD-E8CC-593FE9D80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19A23-73C0-4AD4-AC6E-8D589855C35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41125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1083C-1232-BDB8-5CA4-EE7690C43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0DC46-1A29-EA4A-909B-C4DF40A51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AC7D9C-E38F-F8B6-2FED-368413F7E3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7AAB9B-8A9D-1DBA-ADE0-84122D37D4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152ABE-9563-BA05-7A97-BFE0D09774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880403-4E50-779A-FB9B-6F3762362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B9C5-B4CD-42AA-957F-6CA7C4370C8B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AE5017-0A63-F146-288D-59496130F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E4B8C1-7D60-4B3D-769E-9929BF566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19A23-73C0-4AD4-AC6E-8D589855C35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30724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AAFB4-EB89-E508-6F97-DA4A14617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B0C055-01A6-6460-C4C8-5830E05A1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B9C5-B4CD-42AA-957F-6CA7C4370C8B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93AF11-D1AA-E709-9449-73FFCDD6C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66F923-9584-13B3-8937-11290F628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19A23-73C0-4AD4-AC6E-8D589855C35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81316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18447C-7EFA-CCBA-9F0E-F97690F7F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B9C5-B4CD-42AA-957F-6CA7C4370C8B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8F19A1-7C28-D76D-4A5D-761ED7E89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924D8-54EA-7E90-7AA8-EB1D1CB15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19A23-73C0-4AD4-AC6E-8D589855C35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34565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4934E-0604-1936-B4CE-3F14C22BB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0BD17-00BB-7597-708C-846A396E2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71BED2-E584-E4F1-CB60-A4C746AA4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16B9B4-EC44-A5F6-AA20-4DB69EE8D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B9C5-B4CD-42AA-957F-6CA7C4370C8B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3B9E5B-8F7D-675E-70D8-719BB2FB8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65D352-E0D4-FFD2-B525-37EEA2D2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19A23-73C0-4AD4-AC6E-8D589855C35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72502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02C75-06D1-1482-86D5-9A28FCEF5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B34D1C-FEBA-EC98-3B49-B6A689F113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9DD2E4-4CDA-DE99-A1F2-2303A6D85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E2D814-C126-A452-1656-958BA3530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B9C5-B4CD-42AA-957F-6CA7C4370C8B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889171-C88F-2D06-334A-270D75903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A6E43-D92C-6909-4125-69C6F4A21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19A23-73C0-4AD4-AC6E-8D589855C35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30738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D3047-1339-E7C9-74D7-0170628A2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53EE64-9B5A-487F-E5C5-7F3A7BCEBB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55A33-2522-6AF2-0B06-DCC42344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B9C5-B4CD-42AA-957F-6CA7C4370C8B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163AA-B081-D156-B057-D06930A39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E3634-2246-9765-6403-6F4247DEC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19A23-73C0-4AD4-AC6E-8D589855C35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88034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C560F6-47D3-DB08-0DED-C9A24DDD60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8F4362-532F-E93E-853D-11FED1AB7A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CB40F-2885-9A60-DDE8-9FAC7B005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CB9C5-B4CD-42AA-957F-6CA7C4370C8B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2E69E-79DA-BCF2-B635-865560994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6616E-F6EB-976C-AC26-A1832CDA5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19A23-73C0-4AD4-AC6E-8D589855C35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75980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0555BC-D856-19D3-2920-F462001E3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987B10-68C0-ED25-4EE9-BA6A1C174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C4F10-4811-3215-DB13-CFC2A37D73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ACB9C5-B4CD-42AA-957F-6CA7C4370C8B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08883-60D1-DC85-FB49-2B3C99B63C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1C215-D0EB-CEB2-61A7-B3C1CEA96A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119A23-73C0-4AD4-AC6E-8D589855C35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8954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F251-CC11-C166-5874-BA83D6A2D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67" y="153793"/>
            <a:ext cx="10515600" cy="583142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Part B:</a:t>
            </a:r>
            <a:r>
              <a:rPr lang="en-US" sz="2800" dirty="0"/>
              <a:t> </a:t>
            </a:r>
            <a:r>
              <a:rPr lang="en-SG" sz="2800" dirty="0"/>
              <a:t>Time Series-</a:t>
            </a:r>
            <a:r>
              <a:rPr lang="en-US" altLang="zh-CN" sz="2800"/>
              <a:t>e</a:t>
            </a:r>
            <a:r>
              <a:rPr lang="en-US" sz="2800"/>
              <a:t>nergy </a:t>
            </a:r>
            <a:r>
              <a:rPr lang="en-US" sz="2800" dirty="0"/>
              <a:t>consumption forecasting</a:t>
            </a:r>
            <a:br>
              <a:rPr lang="en-US" sz="2800" b="1" dirty="0"/>
            </a:br>
            <a:r>
              <a:rPr lang="en-US" sz="2800" b="1" dirty="0"/>
              <a:t>Title:</a:t>
            </a:r>
            <a:r>
              <a:rPr lang="en-US" sz="2800" dirty="0"/>
              <a:t> Understanding the Energy Consumption Time Series</a:t>
            </a:r>
            <a:endParaRPr lang="en-SG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5CA37-EF7A-E520-50EC-C79ED24E59E9}"/>
              </a:ext>
            </a:extLst>
          </p:cNvPr>
          <p:cNvSpPr txBox="1"/>
          <p:nvPr/>
        </p:nvSpPr>
        <p:spPr>
          <a:xfrm>
            <a:off x="226934" y="882676"/>
            <a:ext cx="541186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Dataset:</a:t>
            </a:r>
            <a:r>
              <a:rPr lang="en-US" sz="2000" dirty="0"/>
              <a:t> 397 monthly records</a:t>
            </a:r>
          </a:p>
          <a:p>
            <a:r>
              <a:rPr lang="en-US" sz="2000" b="1" dirty="0"/>
              <a:t>Features: </a:t>
            </a:r>
            <a:r>
              <a:rPr lang="en-US" sz="2000" dirty="0"/>
              <a:t>Gas (tons), Electricity (MWh), Water (tons)</a:t>
            </a:r>
          </a:p>
          <a:p>
            <a:endParaRPr lang="en-US" sz="2000" dirty="0"/>
          </a:p>
          <a:p>
            <a:r>
              <a:rPr lang="en-US" sz="2000" b="1" dirty="0"/>
              <a:t>Data Preparation: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Converted </a:t>
            </a:r>
            <a:r>
              <a:rPr lang="en-US" sz="2000" b="1" dirty="0"/>
              <a:t>DATE</a:t>
            </a:r>
            <a:r>
              <a:rPr lang="en-US" sz="2000" dirty="0"/>
              <a:t> to datetime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Set </a:t>
            </a:r>
            <a:r>
              <a:rPr lang="en-US" sz="2000" b="1" dirty="0"/>
              <a:t>DATE as index</a:t>
            </a:r>
            <a:r>
              <a:rPr lang="en-US" sz="2000" dirty="0"/>
              <a:t> for time series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Set the time series frequency to monthly start (MS)</a:t>
            </a:r>
          </a:p>
          <a:p>
            <a:r>
              <a:rPr lang="en-US" sz="2000" dirty="0"/>
              <a:t>Goals of plotting: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Identify </a:t>
            </a:r>
            <a:r>
              <a:rPr lang="en-US" sz="2000" b="1" dirty="0"/>
              <a:t>trend</a:t>
            </a:r>
            <a:r>
              <a:rPr lang="en-US" sz="2000" dirty="0"/>
              <a:t>, </a:t>
            </a:r>
            <a:r>
              <a:rPr lang="en-US" sz="2000" b="1" dirty="0"/>
              <a:t>seasonality</a:t>
            </a:r>
            <a:r>
              <a:rPr lang="en-US" sz="2000" dirty="0"/>
              <a:t>, </a:t>
            </a:r>
            <a:r>
              <a:rPr lang="en-US" sz="2000" b="1" dirty="0"/>
              <a:t>outliers</a:t>
            </a:r>
            <a:r>
              <a:rPr lang="en-US" sz="2000" dirty="0"/>
              <a:t>, </a:t>
            </a:r>
            <a:r>
              <a:rPr lang="en-US" sz="2000" b="1" dirty="0"/>
              <a:t>variability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Perform preprocessing and model </a:t>
            </a:r>
            <a:r>
              <a:rPr lang="en-US" altLang="zh-CN" sz="2000" dirty="0"/>
              <a:t>selection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43AF1A-0AD7-0230-4F4A-68EB6A79E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5467" y="736935"/>
            <a:ext cx="6616826" cy="43091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761124-E645-7D2E-42A8-AA1692D160A1}"/>
              </a:ext>
            </a:extLst>
          </p:cNvPr>
          <p:cNvSpPr txBox="1"/>
          <p:nvPr/>
        </p:nvSpPr>
        <p:spPr>
          <a:xfrm>
            <a:off x="167667" y="5121846"/>
            <a:ext cx="1215133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/>
              <a:t>Key 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/>
              <a:t>Gas:</a:t>
            </a:r>
            <a:r>
              <a:rPr lang="en-US" sz="1900" dirty="0"/>
              <a:t> moderate upward trend, high volatility, occasional spikes → may require smoothing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/>
              <a:t>Electricity:</a:t>
            </a:r>
            <a:r>
              <a:rPr lang="en-US" sz="1900" dirty="0"/>
              <a:t> clear upward trend, strong seasonality, stable fluctuations → suitable for trend-based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/>
              <a:t>Water:</a:t>
            </a:r>
            <a:r>
              <a:rPr lang="en-US" sz="1900" dirty="0"/>
              <a:t> irregular, noisy, weak seasonal pattern → forecasting may be challenging</a:t>
            </a:r>
          </a:p>
        </p:txBody>
      </p:sp>
    </p:spTree>
    <p:extLst>
      <p:ext uri="{BB962C8B-B14F-4D97-AF65-F5344CB8AC3E}">
        <p14:creationId xmlns:p14="http://schemas.microsoft.com/office/powerpoint/2010/main" val="597600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A95D5-B217-73E7-8022-DFA617939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144991"/>
            <a:ext cx="10515600" cy="650875"/>
          </a:xfrm>
        </p:spPr>
        <p:txBody>
          <a:bodyPr>
            <a:normAutofit/>
          </a:bodyPr>
          <a:lstStyle/>
          <a:p>
            <a:r>
              <a:rPr lang="en-US" sz="2800" b="1" dirty="0"/>
              <a:t>Title:</a:t>
            </a:r>
            <a:r>
              <a:rPr lang="en-US" sz="2800" dirty="0"/>
              <a:t> Train / Validation / Test Split &amp; Preprocessing</a:t>
            </a:r>
            <a:endParaRPr lang="en-SG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0D34C7-D4D5-024F-27F6-D62EA70A5463}"/>
              </a:ext>
            </a:extLst>
          </p:cNvPr>
          <p:cNvSpPr txBox="1"/>
          <p:nvPr/>
        </p:nvSpPr>
        <p:spPr>
          <a:xfrm>
            <a:off x="4563536" y="4083378"/>
            <a:ext cx="791076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/>
              <a:t>Preprocessing Steps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/>
              <a:t>Seasonal Decomposition (Monthly, period=12)</a:t>
            </a:r>
            <a:endParaRPr lang="en-US" sz="1700" dirty="0"/>
          </a:p>
          <a:p>
            <a:r>
              <a:rPr lang="en-US" sz="1700" b="1" dirty="0"/>
              <a:t>       </a:t>
            </a:r>
            <a:r>
              <a:rPr lang="en-US" sz="1700" dirty="0"/>
              <a:t>Gas: moderate trend, strong seasonality, irregular spikes</a:t>
            </a:r>
          </a:p>
          <a:p>
            <a:r>
              <a:rPr lang="en-US" sz="1700" dirty="0"/>
              <a:t>       Electricity: strong upward trend, </a:t>
            </a:r>
            <a:r>
              <a:rPr lang="en-SG" dirty="0"/>
              <a:t>obvious</a:t>
            </a:r>
            <a:r>
              <a:rPr lang="en-US" sz="1700" dirty="0"/>
              <a:t> seasonal pattern, stable residuals</a:t>
            </a:r>
          </a:p>
          <a:p>
            <a:r>
              <a:rPr lang="en-US" sz="1700" dirty="0"/>
              <a:t>       Water: weak trend, noisy series, irregular seasonal pattern, several extreme 	 	 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/>
              <a:t>Stationarity check</a:t>
            </a:r>
            <a:r>
              <a:rPr lang="en-US" sz="1700" dirty="0"/>
              <a:t> (ADF test)</a:t>
            </a:r>
          </a:p>
          <a:p>
            <a:r>
              <a:rPr lang="en-US" sz="1700" dirty="0"/>
              <a:t>       Gas &amp; Water: stationary </a:t>
            </a:r>
            <a:r>
              <a:rPr lang="en-SG" sz="1700" dirty="0"/>
              <a:t>(p &lt; 0.05)</a:t>
            </a:r>
            <a:r>
              <a:rPr lang="en-US" sz="1700" dirty="0"/>
              <a:t> → use original series</a:t>
            </a:r>
          </a:p>
          <a:p>
            <a:r>
              <a:rPr lang="en-US" sz="1700" dirty="0"/>
              <a:t>       Electricity: non-stationary </a:t>
            </a:r>
            <a:r>
              <a:rPr lang="en-SG" sz="1700" dirty="0"/>
              <a:t>(p &gt; 0.05)</a:t>
            </a:r>
            <a:r>
              <a:rPr lang="en-US" sz="1700" dirty="0"/>
              <a:t> → first-order differencing (d=1)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2DB620-BC5C-CA9B-067F-229EB8DE7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75" y="3624126"/>
            <a:ext cx="4113525" cy="3008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F04074-741A-C997-B28B-44B9A5A07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0201" y="664618"/>
            <a:ext cx="4017000" cy="3008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68383B-6D06-E722-C002-C48EAA9099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1339" y="689400"/>
            <a:ext cx="4060661" cy="29840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8634468-0997-CE52-7D04-4C5C02E5932E}"/>
              </a:ext>
            </a:extLst>
          </p:cNvPr>
          <p:cNvSpPr txBox="1"/>
          <p:nvPr/>
        </p:nvSpPr>
        <p:spPr>
          <a:xfrm>
            <a:off x="320459" y="960544"/>
            <a:ext cx="4089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Split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Split </a:t>
            </a:r>
            <a:r>
              <a:rPr lang="en-US" b="1" dirty="0"/>
              <a:t>by time</a:t>
            </a:r>
            <a:r>
              <a:rPr lang="en-US" dirty="0"/>
              <a:t>, no shuffling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Training: first 70% (277 records)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Validation: next 15% (60 records)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Testing: last 15% (60 records)</a:t>
            </a:r>
          </a:p>
          <a:p>
            <a:r>
              <a:rPr lang="en-US" dirty="0"/>
              <a:t>Maintain </a:t>
            </a:r>
            <a:r>
              <a:rPr lang="en-SG" dirty="0"/>
              <a:t>chronological </a:t>
            </a:r>
            <a:r>
              <a:rPr lang="en-US" dirty="0"/>
              <a:t>order can </a:t>
            </a:r>
          </a:p>
          <a:p>
            <a:r>
              <a:rPr lang="en-US" dirty="0"/>
              <a:t>avoid data leakage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08C5C92-8CAC-742D-C982-166579CAE981}"/>
                  </a:ext>
                </a:extLst>
              </p14:cNvPr>
              <p14:cNvContentPartPr/>
              <p14:nvPr/>
            </p14:nvContentPartPr>
            <p14:xfrm>
              <a:off x="29027" y="728000"/>
              <a:ext cx="3976200" cy="26172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08C5C92-8CAC-742D-C982-166579CAE98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027" y="719000"/>
                <a:ext cx="3993840" cy="263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8460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0873F-A2AE-468E-3DDA-0745C146D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17" y="120802"/>
            <a:ext cx="10515600" cy="610235"/>
          </a:xfrm>
        </p:spPr>
        <p:txBody>
          <a:bodyPr>
            <a:normAutofit/>
          </a:bodyPr>
          <a:lstStyle/>
          <a:p>
            <a:r>
              <a:rPr lang="en-SG" sz="2800" b="1" dirty="0"/>
              <a:t>Title:</a:t>
            </a:r>
            <a:r>
              <a:rPr lang="en-SG" sz="2800" dirty="0"/>
              <a:t> Model Selection &amp; Hyperparameter Tuning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C7E643-78E5-BF1A-934E-CE84A1E67379}"/>
              </a:ext>
            </a:extLst>
          </p:cNvPr>
          <p:cNvSpPr txBox="1"/>
          <p:nvPr/>
        </p:nvSpPr>
        <p:spPr>
          <a:xfrm>
            <a:off x="246017" y="714103"/>
            <a:ext cx="597698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Model Choice</a:t>
            </a:r>
          </a:p>
          <a:p>
            <a:endParaRPr lang="en-SG" b="1" dirty="0"/>
          </a:p>
          <a:p>
            <a:r>
              <a:rPr lang="en-SG" b="1" dirty="0"/>
              <a:t>Separate models for Gas, Electricity, Water</a:t>
            </a:r>
            <a:r>
              <a:rPr lang="en-SG" dirty="0"/>
              <a:t> due to different trends, seasonality, and volatility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b="1" dirty="0"/>
              <a:t>Gas:</a:t>
            </a:r>
            <a:r>
              <a:rPr lang="en-SG" dirty="0"/>
              <a:t> SARIMA → seasonal structure, moderate volatility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b="1" dirty="0"/>
              <a:t>Electricity:</a:t>
            </a:r>
            <a:r>
              <a:rPr lang="en-SG" dirty="0"/>
              <a:t> SARIMA → strong trend + seasonality, after differencing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b="1" dirty="0"/>
              <a:t>Water:</a:t>
            </a:r>
            <a:r>
              <a:rPr lang="en-SG" dirty="0"/>
              <a:t> ARIMA &amp; ETS → noisy series, ETS smooths extreme volatility</a:t>
            </a:r>
          </a:p>
          <a:p>
            <a:endParaRPr lang="en-SG" b="1" dirty="0"/>
          </a:p>
          <a:p>
            <a:r>
              <a:rPr lang="en-SG" b="1" dirty="0"/>
              <a:t>Baseline Models (before tuning)</a:t>
            </a:r>
            <a:endParaRPr lang="en-S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Gas: SARIMA(1,0,1)(0,0,1,12)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Electricity: SARIMA(1,1,1)(0,1,1,12)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Water: ARIMA(1,0,1) / ETS (Additive trend + additive seasonality)</a:t>
            </a:r>
          </a:p>
          <a:p>
            <a:endParaRPr lang="en-SG" b="1" dirty="0"/>
          </a:p>
          <a:p>
            <a:r>
              <a:rPr lang="en-SG" b="1" dirty="0"/>
              <a:t>Observations</a:t>
            </a:r>
          </a:p>
          <a:p>
            <a:r>
              <a:rPr lang="en-SG" b="1" dirty="0"/>
              <a:t>Gas:</a:t>
            </a:r>
            <a:r>
              <a:rPr lang="en-SG" dirty="0"/>
              <a:t> captures general level + short-term autocorrelation, may underrepresent seasonal spikes</a:t>
            </a:r>
          </a:p>
          <a:p>
            <a:r>
              <a:rPr lang="en-SG" b="1" dirty="0"/>
              <a:t>Electricity: </a:t>
            </a:r>
            <a:r>
              <a:rPr lang="en-SG" dirty="0"/>
              <a:t>effectively captures trend + seasonality</a:t>
            </a:r>
          </a:p>
          <a:p>
            <a:r>
              <a:rPr lang="en-SG" b="1" dirty="0"/>
              <a:t>Water:</a:t>
            </a:r>
            <a:r>
              <a:rPr lang="en-SG" dirty="0"/>
              <a:t> ETS better handles noise than ARIMA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DD55EF9-F95D-1FDF-BC39-760871F82C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332828"/>
              </p:ext>
            </p:extLst>
          </p:nvPr>
        </p:nvGraphicFramePr>
        <p:xfrm>
          <a:off x="6240419" y="2749603"/>
          <a:ext cx="5867401" cy="2286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37717">
                  <a:extLst>
                    <a:ext uri="{9D8B030D-6E8A-4147-A177-3AD203B41FA5}">
                      <a16:colId xmlns:a16="http://schemas.microsoft.com/office/drawing/2014/main" val="2259375354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846073450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3954251049"/>
                    </a:ext>
                  </a:extLst>
                </a:gridCol>
                <a:gridCol w="1210734">
                  <a:extLst>
                    <a:ext uri="{9D8B030D-6E8A-4147-A177-3AD203B41FA5}">
                      <a16:colId xmlns:a16="http://schemas.microsoft.com/office/drawing/2014/main" val="2463405569"/>
                    </a:ext>
                  </a:extLst>
                </a:gridCol>
                <a:gridCol w="1837750">
                  <a:extLst>
                    <a:ext uri="{9D8B030D-6E8A-4147-A177-3AD203B41FA5}">
                      <a16:colId xmlns:a16="http://schemas.microsoft.com/office/drawing/2014/main" val="389451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S</a:t>
                      </a:r>
                      <a:r>
                        <a:rPr lang="en-US" altLang="zh-CN" sz="1400" dirty="0" err="1"/>
                        <a:t>eries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Baseline MAPE/RMSE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Tuned MAPE/RMSE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853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Gas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SARIMA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0.201 / 5.702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0.208 / 5.636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Slight lower RMSE, </a:t>
                      </a:r>
                    </a:p>
                    <a:p>
                      <a:pPr algn="ctr"/>
                      <a:r>
                        <a:rPr lang="en-US" sz="1400" dirty="0"/>
                        <a:t>MAPE improved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512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Electricity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SARIMA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0.062 / 70.667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0.025 / 33.055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Significant improvement</a:t>
                      </a:r>
                      <a:endParaRPr lang="en-S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24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0.391 / 174.608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0.377 / 165.291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ETS outperforms ARIMA, moderate improvement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335045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02D10B4-965D-853D-FA6C-C24232165B00}"/>
              </a:ext>
            </a:extLst>
          </p:cNvPr>
          <p:cNvSpPr txBox="1"/>
          <p:nvPr/>
        </p:nvSpPr>
        <p:spPr>
          <a:xfrm>
            <a:off x="6265833" y="5146085"/>
            <a:ext cx="58923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</a:t>
            </a:r>
            <a:endParaRPr lang="en-US" dirty="0"/>
          </a:p>
          <a:p>
            <a:r>
              <a:rPr lang="en-US" dirty="0"/>
              <a:t>For Electricity, seasonal differencing (D=1) alone is sufficient → d=0 chosen</a:t>
            </a:r>
          </a:p>
          <a:p>
            <a:r>
              <a:rPr lang="en-US" dirty="0"/>
              <a:t>Tuning improves forecast accuracy, especially for Electricity and Water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592C70-B4A1-7CCB-B5FB-E070FAEF5A8F}"/>
              </a:ext>
            </a:extLst>
          </p:cNvPr>
          <p:cNvSpPr txBox="1"/>
          <p:nvPr/>
        </p:nvSpPr>
        <p:spPr>
          <a:xfrm>
            <a:off x="6265833" y="718278"/>
            <a:ext cx="607858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Hyperparameter Tuning (Grid search)</a:t>
            </a:r>
          </a:p>
          <a:p>
            <a:endParaRPr lang="en-SG" b="1" dirty="0"/>
          </a:p>
          <a:p>
            <a:r>
              <a:rPr lang="en-SG" b="1" dirty="0"/>
              <a:t>Goal:</a:t>
            </a:r>
            <a:r>
              <a:rPr lang="en-SG" dirty="0"/>
              <a:t> minimize </a:t>
            </a:r>
            <a:r>
              <a:rPr lang="en-SG" b="1" dirty="0"/>
              <a:t>MAPE</a:t>
            </a:r>
            <a:r>
              <a:rPr lang="en-SG" dirty="0"/>
              <a:t> &amp; </a:t>
            </a:r>
            <a:r>
              <a:rPr lang="en-SG" b="1" dirty="0"/>
              <a:t>RMSE</a:t>
            </a:r>
            <a:r>
              <a:rPr lang="en-SG" dirty="0"/>
              <a:t> on validation 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b="1" dirty="0"/>
              <a:t>SARIMA (Gas &amp; Electricity)</a:t>
            </a:r>
            <a:r>
              <a:rPr lang="en-SG" dirty="0"/>
              <a:t>: tune (</a:t>
            </a:r>
            <a:r>
              <a:rPr lang="en-SG" dirty="0" err="1"/>
              <a:t>p,d,q</a:t>
            </a:r>
            <a:r>
              <a:rPr lang="en-SG" dirty="0"/>
              <a:t>) + (P,D,Q,s)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b="1" dirty="0"/>
              <a:t>ETS (Water)</a:t>
            </a:r>
            <a:r>
              <a:rPr lang="en-SG" dirty="0"/>
              <a:t>: tune trend type (none/add/</a:t>
            </a:r>
            <a:r>
              <a:rPr lang="en-SG" dirty="0" err="1"/>
              <a:t>mul</a:t>
            </a:r>
            <a:r>
              <a:rPr lang="en-SG" dirty="0"/>
              <a:t>), seasonal type (none/add/</a:t>
            </a:r>
            <a:r>
              <a:rPr lang="en-SG" dirty="0" err="1"/>
              <a:t>mul</a:t>
            </a:r>
            <a:r>
              <a:rPr lang="en-SG" dirty="0"/>
              <a:t>), damped type (True/False)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b="1" dirty="0"/>
              <a:t>Metric: </a:t>
            </a:r>
            <a:r>
              <a:rPr lang="en-SG" dirty="0"/>
              <a:t>MAPE and RMSE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6FB7035-20E0-749B-7DB5-AB99C4FB9401}"/>
                  </a:ext>
                </a:extLst>
              </p14:cNvPr>
              <p14:cNvContentPartPr/>
              <p14:nvPr/>
            </p14:nvContentPartPr>
            <p14:xfrm>
              <a:off x="6016201" y="668628"/>
              <a:ext cx="360" cy="6164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6FB7035-20E0-749B-7DB5-AB99C4FB940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07561" y="659988"/>
                <a:ext cx="18000" cy="618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7371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EE976-29E5-EC3C-5E6F-2ED3C3B7E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134" y="136526"/>
            <a:ext cx="10515600" cy="557742"/>
          </a:xfrm>
        </p:spPr>
        <p:txBody>
          <a:bodyPr>
            <a:normAutofit/>
          </a:bodyPr>
          <a:lstStyle/>
          <a:p>
            <a:r>
              <a:rPr lang="en-US" sz="2800" b="1" dirty="0"/>
              <a:t>Title: </a:t>
            </a:r>
            <a:r>
              <a:rPr lang="en-US" sz="2800" dirty="0"/>
              <a:t>Evaluation on Test Set &amp; 60-Month Forecasting</a:t>
            </a:r>
            <a:endParaRPr lang="en-SG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A4D97C-AF8A-D3BC-0E91-D20A9F311299}"/>
              </a:ext>
            </a:extLst>
          </p:cNvPr>
          <p:cNvSpPr txBox="1"/>
          <p:nvPr/>
        </p:nvSpPr>
        <p:spPr>
          <a:xfrm>
            <a:off x="220134" y="694268"/>
            <a:ext cx="451264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Evaluation setup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Retrained tuned model on </a:t>
            </a:r>
            <a:r>
              <a:rPr lang="en-US" sz="1600" b="1" dirty="0"/>
              <a:t>Train +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Evaluated performance on</a:t>
            </a:r>
            <a:r>
              <a:rPr lang="en-US" sz="1600" b="1" dirty="0"/>
              <a:t> Test 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Metrics: </a:t>
            </a:r>
            <a:r>
              <a:rPr lang="en-US" sz="1600" b="1" dirty="0"/>
              <a:t>MAPE</a:t>
            </a:r>
            <a:r>
              <a:rPr lang="en-US" sz="1600" dirty="0"/>
              <a:t> and </a:t>
            </a:r>
            <a:r>
              <a:rPr lang="en-US" sz="1600" b="1" dirty="0"/>
              <a:t>RMSE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Forecast plots used for </a:t>
            </a:r>
            <a:r>
              <a:rPr lang="en-US" sz="1600" b="1" dirty="0"/>
              <a:t>visual fit assessment</a:t>
            </a:r>
            <a:endParaRPr lang="en-US" sz="1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E86203F-FB8C-9DD6-D92E-83BF91B0D7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713195"/>
              </p:ext>
            </p:extLst>
          </p:nvPr>
        </p:nvGraphicFramePr>
        <p:xfrm>
          <a:off x="277194" y="2050748"/>
          <a:ext cx="4235539" cy="1742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41644">
                  <a:extLst>
                    <a:ext uri="{9D8B030D-6E8A-4147-A177-3AD203B41FA5}">
                      <a16:colId xmlns:a16="http://schemas.microsoft.com/office/drawing/2014/main" val="331796965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57774035"/>
                    </a:ext>
                  </a:extLst>
                </a:gridCol>
                <a:gridCol w="1075267">
                  <a:extLst>
                    <a:ext uri="{9D8B030D-6E8A-4147-A177-3AD203B41FA5}">
                      <a16:colId xmlns:a16="http://schemas.microsoft.com/office/drawing/2014/main" val="3117097639"/>
                    </a:ext>
                  </a:extLst>
                </a:gridCol>
                <a:gridCol w="1615895">
                  <a:extLst>
                    <a:ext uri="{9D8B030D-6E8A-4147-A177-3AD203B41FA5}">
                      <a16:colId xmlns:a16="http://schemas.microsoft.com/office/drawing/2014/main" val="24734242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MAPE/RMSE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Note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290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Gas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SARIMA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0.117 / 3.73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Underestimates upward trend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166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Electricity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SARIMA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0.028 / 41.60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Best fit, strong seasonality captured</a:t>
                      </a:r>
                      <a:endParaRPr lang="en-SG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1319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0.179 / 104.23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/>
                        <a:t>High volatility, smooth predictions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1464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70309CA-DF9A-8485-A08F-EDF6EF0063F2}"/>
              </a:ext>
            </a:extLst>
          </p:cNvPr>
          <p:cNvSpPr txBox="1"/>
          <p:nvPr/>
        </p:nvSpPr>
        <p:spPr>
          <a:xfrm>
            <a:off x="220134" y="3793188"/>
            <a:ext cx="5108065" cy="3093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/>
              <a:t>Gas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Predictions relatively flat and downward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Residuals show autocorrelation → missing structure</a:t>
            </a:r>
            <a:endParaRPr lang="en-US" sz="1500" b="1" dirty="0"/>
          </a:p>
          <a:p>
            <a:r>
              <a:rPr lang="en-US" sz="1500" b="1" dirty="0"/>
              <a:t>Electricity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Predictions closely follows seasonal peaks and troughs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Residuals centered around zero → good model fit</a:t>
            </a:r>
          </a:p>
          <a:p>
            <a:r>
              <a:rPr lang="en-US" sz="1500" b="1" dirty="0"/>
              <a:t>Water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Smoother and fail to capture sudden spikes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Large residual swings and strong autocorrelation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Indicates noise-dominated series</a:t>
            </a:r>
          </a:p>
          <a:p>
            <a:r>
              <a:rPr lang="en-US" sz="1500" b="1" dirty="0"/>
              <a:t>Conclusion</a:t>
            </a:r>
          </a:p>
          <a:p>
            <a:r>
              <a:rPr lang="en-US" sz="1500" dirty="0"/>
              <a:t>Electricity series is </a:t>
            </a:r>
            <a:r>
              <a:rPr lang="en-US" sz="1500" b="1" dirty="0"/>
              <a:t>highly predictable</a:t>
            </a:r>
          </a:p>
          <a:p>
            <a:r>
              <a:rPr lang="en-US" sz="1500" dirty="0"/>
              <a:t>Gas and water present </a:t>
            </a:r>
            <a:r>
              <a:rPr lang="en-US" sz="1500" b="1" dirty="0"/>
              <a:t>structural and volatility challenges</a:t>
            </a:r>
            <a:endParaRPr lang="en-US" sz="1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078306-5524-10C5-B1AA-93AAE7432727}"/>
              </a:ext>
            </a:extLst>
          </p:cNvPr>
          <p:cNvSpPr txBox="1"/>
          <p:nvPr/>
        </p:nvSpPr>
        <p:spPr>
          <a:xfrm>
            <a:off x="5710143" y="3931687"/>
            <a:ext cx="642259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/>
              <a:t>Gas</a:t>
            </a: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Relatively flat and slightly downward trend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Stable forecast with widening confidence intervals</a:t>
            </a:r>
          </a:p>
          <a:p>
            <a:r>
              <a:rPr lang="en-US" sz="1500" b="1" dirty="0"/>
              <a:t>Electricity</a:t>
            </a: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500" dirty="0"/>
              <a:t>Continues upward trend</a:t>
            </a:r>
            <a:r>
              <a:rPr lang="en-US" sz="1500" dirty="0"/>
              <a:t> with seasonal peaks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Confidence intervals increasing uncertainty over time</a:t>
            </a:r>
          </a:p>
          <a:p>
            <a:r>
              <a:rPr lang="en-US" sz="1500" b="1" dirty="0"/>
              <a:t>Water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Mean-reverting and smooth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Limited ability to capture spikes</a:t>
            </a:r>
          </a:p>
          <a:p>
            <a:r>
              <a:rPr lang="en-US" sz="1500" b="1" dirty="0"/>
              <a:t>Key Observation</a:t>
            </a:r>
          </a:p>
          <a:p>
            <a:r>
              <a:rPr lang="en-US" sz="1500" dirty="0"/>
              <a:t>Forecast reliability strongly depends on the underlying time series structure.</a:t>
            </a:r>
            <a:br>
              <a:rPr lang="en-US" sz="1500" dirty="0"/>
            </a:br>
            <a:r>
              <a:rPr lang="en-US" sz="1500" dirty="0"/>
              <a:t>Seasonal and stable series outperform volatile and noisy ones.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7199ED-63BF-7716-10F4-48EB2A341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966" y="20315"/>
            <a:ext cx="3693769" cy="20141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EB024D-953A-E870-05CE-529A69DA1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8174" y="1120796"/>
            <a:ext cx="3671392" cy="20141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CB86D4-1174-936A-D62B-71CDE065D4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4996" y="2084370"/>
            <a:ext cx="3814669" cy="201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170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7EEE4-0D76-2250-F539-D9A256658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266" y="136526"/>
            <a:ext cx="10515600" cy="557742"/>
          </a:xfrm>
        </p:spPr>
        <p:txBody>
          <a:bodyPr>
            <a:normAutofit/>
          </a:bodyPr>
          <a:lstStyle/>
          <a:p>
            <a:r>
              <a:rPr lang="en-US" sz="2800" b="1" dirty="0"/>
              <a:t>Title</a:t>
            </a:r>
            <a:r>
              <a:rPr lang="en-SG" sz="2800" b="1" dirty="0"/>
              <a:t>:</a:t>
            </a:r>
            <a:r>
              <a:rPr lang="zh-CN" altLang="en-US" sz="2800" b="1" dirty="0"/>
              <a:t> </a:t>
            </a:r>
            <a:r>
              <a:rPr lang="en-US" sz="2800" dirty="0"/>
              <a:t>Model Improvement Through Tuning &amp; Seasonality</a:t>
            </a:r>
            <a:endParaRPr lang="en-SG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81F4DF-BA8C-CA27-D380-D64054DB4E2E}"/>
              </a:ext>
            </a:extLst>
          </p:cNvPr>
          <p:cNvSpPr txBox="1"/>
          <p:nvPr/>
        </p:nvSpPr>
        <p:spPr>
          <a:xfrm>
            <a:off x="186266" y="694268"/>
            <a:ext cx="6031654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/>
              <a:t>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Evaluate whether </a:t>
            </a:r>
            <a:r>
              <a:rPr lang="en-US" sz="1700" b="1" dirty="0"/>
              <a:t>hyperparameter tuning</a:t>
            </a:r>
            <a:r>
              <a:rPr lang="en-US" sz="1700" dirty="0"/>
              <a:t> and </a:t>
            </a:r>
            <a:r>
              <a:rPr lang="en-US" sz="1700" b="1" dirty="0"/>
              <a:t>seasonality modeling </a:t>
            </a:r>
            <a:r>
              <a:rPr lang="en-US" sz="1700" dirty="0"/>
              <a:t>improve forecasting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Compare </a:t>
            </a:r>
            <a:r>
              <a:rPr lang="en-US" sz="1700" b="1" dirty="0"/>
              <a:t>baseline vs tuned models</a:t>
            </a:r>
            <a:r>
              <a:rPr lang="en-US" sz="1700" dirty="0"/>
              <a:t> using test-set metrics</a:t>
            </a:r>
          </a:p>
          <a:p>
            <a:endParaRPr lang="en-US" sz="1700" dirty="0"/>
          </a:p>
          <a:p>
            <a:r>
              <a:rPr lang="en-US" sz="1700" b="1" dirty="0"/>
              <a:t>Baseline vs Tuned Performance</a:t>
            </a:r>
          </a:p>
          <a:p>
            <a:r>
              <a:rPr lang="en-US" sz="1700" b="1" dirty="0"/>
              <a:t>Gas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Minor improvements due to weak seasonal structure</a:t>
            </a:r>
            <a:endParaRPr lang="en-US" sz="1700" b="1" dirty="0"/>
          </a:p>
          <a:p>
            <a:r>
              <a:rPr lang="en-US" sz="1700" b="1" dirty="0"/>
              <a:t>Electricity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Largest improvements after tuning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Explicit seasonality modeling greatly reduced MAPE and RMSE</a:t>
            </a:r>
          </a:p>
          <a:p>
            <a:r>
              <a:rPr lang="en-US" sz="1700" b="1" dirty="0"/>
              <a:t>Water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Limited improvements due to high noise and irregular spikes</a:t>
            </a:r>
            <a:br>
              <a:rPr lang="en-US" sz="1700" dirty="0"/>
            </a:br>
            <a:endParaRPr lang="en-US" sz="1700" dirty="0"/>
          </a:p>
          <a:p>
            <a:r>
              <a:rPr lang="en-US" sz="1700" b="1" dirty="0"/>
              <a:t>Why Improvement Worked (or Didn’t)</a:t>
            </a:r>
          </a:p>
          <a:p>
            <a:r>
              <a:rPr lang="en-US" sz="1700" b="1" dirty="0"/>
              <a:t>Successful improvement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Electricity has strong seasonality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SARIMA effectively captures trend + seasonal components</a:t>
            </a:r>
          </a:p>
          <a:p>
            <a:r>
              <a:rPr lang="en-US" sz="1700" b="1" dirty="0"/>
              <a:t>Limited improvement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Water series dominated by randomness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Even optimized models struggle with extreme volatility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4450DD-90EE-55F3-5464-038929C1E107}"/>
              </a:ext>
            </a:extLst>
          </p:cNvPr>
          <p:cNvSpPr txBox="1"/>
          <p:nvPr/>
        </p:nvSpPr>
        <p:spPr>
          <a:xfrm>
            <a:off x="6243321" y="940489"/>
            <a:ext cx="61722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Discussion: Outliers</a:t>
            </a:r>
          </a:p>
          <a:p>
            <a:r>
              <a:rPr lang="en-US" dirty="0"/>
              <a:t>No explicit outlier removal performed</a:t>
            </a:r>
          </a:p>
          <a:p>
            <a:r>
              <a:rPr lang="en-US" dirty="0"/>
              <a:t>Rationale: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Preserve real consumption behavior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Avoid subjective assumptions</a:t>
            </a:r>
          </a:p>
          <a:p>
            <a:r>
              <a:rPr lang="en-US" dirty="0"/>
              <a:t>Impact: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Increased error for water forecasts</a:t>
            </a:r>
          </a:p>
          <a:p>
            <a:endParaRPr lang="en-US" dirty="0"/>
          </a:p>
          <a:p>
            <a:r>
              <a:rPr lang="en-US" b="1" dirty="0"/>
              <a:t>Future improvements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Include exogenous variables (e.g. weather, population)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</a:t>
            </a:r>
            <a:r>
              <a:rPr lang="en-US" altLang="zh-CN" dirty="0"/>
              <a:t>andle </a:t>
            </a:r>
            <a:r>
              <a:rPr lang="en-US" dirty="0"/>
              <a:t>outlier and noise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Compare with more advanced models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Final Conclusion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Electricity forecasting is highly robust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Gas and Water require richer data or more complex modeling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improvement depends more on </a:t>
            </a:r>
            <a:r>
              <a:rPr lang="en-US" b="1" dirty="0"/>
              <a:t>data characteristics</a:t>
            </a:r>
            <a:r>
              <a:rPr lang="en-US" dirty="0"/>
              <a:t> than model complexity</a:t>
            </a:r>
          </a:p>
        </p:txBody>
      </p:sp>
    </p:spTree>
    <p:extLst>
      <p:ext uri="{BB962C8B-B14F-4D97-AF65-F5344CB8AC3E}">
        <p14:creationId xmlns:p14="http://schemas.microsoft.com/office/powerpoint/2010/main" val="388658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2096</TotalTime>
  <Words>914</Words>
  <Application>Microsoft Office PowerPoint</Application>
  <PresentationFormat>Widescreen</PresentationFormat>
  <Paragraphs>164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Part B: Time Series-energy consumption forecasting Title: Understanding the Energy Consumption Time Series</vt:lpstr>
      <vt:lpstr>Title: Train / Validation / Test Split &amp; Preprocessing</vt:lpstr>
      <vt:lpstr>Title: Model Selection &amp; Hyperparameter Tuning</vt:lpstr>
      <vt:lpstr>Title: Evaluation on Test Set &amp; 60-Month Forecasting</vt:lpstr>
      <vt:lpstr>Title: Model Improvement Through Tuning &amp; Seasonality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TOH KE TING</dc:creator>
  <cp:lastModifiedBy>TOH KE TING</cp:lastModifiedBy>
  <cp:revision>196</cp:revision>
  <dcterms:created xsi:type="dcterms:W3CDTF">2026-02-06T13:28:45Z</dcterms:created>
  <dcterms:modified xsi:type="dcterms:W3CDTF">2026-03-27T13:38:52Z</dcterms:modified>
</cp:coreProperties>
</file>