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1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CC6126-ACB2-419C-A7F9-DA54C8B3B5D4}" v="1" dt="2026-03-27T13:36:02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H KE TING" userId="40fef732-b837-491d-b009-18c893e995dd" providerId="ADAL" clId="{5C74FD94-D309-480F-B00B-160A24EA88FD}"/>
    <pc:docChg chg="undo redo custSel addSld delSld modSld sldOrd">
      <pc:chgData name="TOH KE TING" userId="40fef732-b837-491d-b009-18c893e995dd" providerId="ADAL" clId="{5C74FD94-D309-480F-B00B-160A24EA88FD}" dt="2026-03-27T13:58:25.342" v="11015" actId="20577"/>
      <pc:docMkLst>
        <pc:docMk/>
      </pc:docMkLst>
      <pc:sldChg chg="modSp del mod">
        <pc:chgData name="TOH KE TING" userId="40fef732-b837-491d-b009-18c893e995dd" providerId="ADAL" clId="{5C74FD94-D309-480F-B00B-160A24EA88FD}" dt="2026-03-27T13:35:32.092" v="10944" actId="2696"/>
        <pc:sldMkLst>
          <pc:docMk/>
          <pc:sldMk cId="2569540173" sldId="256"/>
        </pc:sldMkLst>
      </pc:sldChg>
      <pc:sldChg chg="modSp del mod">
        <pc:chgData name="TOH KE TING" userId="40fef732-b837-491d-b009-18c893e995dd" providerId="ADAL" clId="{5C74FD94-D309-480F-B00B-160A24EA88FD}" dt="2026-03-27T13:35:34.840" v="10945" actId="2696"/>
        <pc:sldMkLst>
          <pc:docMk/>
          <pc:sldMk cId="2514399082" sldId="257"/>
        </pc:sldMkLst>
      </pc:sldChg>
      <pc:sldChg chg="delSp modSp del mod">
        <pc:chgData name="TOH KE TING" userId="40fef732-b837-491d-b009-18c893e995dd" providerId="ADAL" clId="{5C74FD94-D309-480F-B00B-160A24EA88FD}" dt="2026-03-27T13:35:37.172" v="10946" actId="2696"/>
        <pc:sldMkLst>
          <pc:docMk/>
          <pc:sldMk cId="2000722827" sldId="258"/>
        </pc:sldMkLst>
      </pc:sldChg>
      <pc:sldChg chg="modSp del mod">
        <pc:chgData name="TOH KE TING" userId="40fef732-b837-491d-b009-18c893e995dd" providerId="ADAL" clId="{5C74FD94-D309-480F-B00B-160A24EA88FD}" dt="2026-03-27T13:35:41.349" v="10947" actId="2696"/>
        <pc:sldMkLst>
          <pc:docMk/>
          <pc:sldMk cId="3475601954" sldId="259"/>
        </pc:sldMkLst>
      </pc:sldChg>
      <pc:sldChg chg="del">
        <pc:chgData name="TOH KE TING" userId="40fef732-b837-491d-b009-18c893e995dd" providerId="ADAL" clId="{5C74FD94-D309-480F-B00B-160A24EA88FD}" dt="2026-03-27T13:35:44.111" v="10948" actId="2696"/>
        <pc:sldMkLst>
          <pc:docMk/>
          <pc:sldMk cId="1430650533" sldId="260"/>
        </pc:sldMkLst>
      </pc:sldChg>
      <pc:sldChg chg="modSp mod">
        <pc:chgData name="TOH KE TING" userId="40fef732-b837-491d-b009-18c893e995dd" providerId="ADAL" clId="{5C74FD94-D309-480F-B00B-160A24EA88FD}" dt="2026-03-27T13:36:36.395" v="11001" actId="1037"/>
        <pc:sldMkLst>
          <pc:docMk/>
          <pc:sldMk cId="3149689138" sldId="261"/>
        </pc:sldMkLst>
        <pc:spChg chg="mod">
          <ac:chgData name="TOH KE TING" userId="40fef732-b837-491d-b009-18c893e995dd" providerId="ADAL" clId="{5C74FD94-D309-480F-B00B-160A24EA88FD}" dt="2026-03-27T13:36:36.395" v="11001" actId="1037"/>
          <ac:spMkLst>
            <pc:docMk/>
            <pc:sldMk cId="3149689138" sldId="261"/>
            <ac:spMk id="2" creationId="{4E42F4AA-89D3-3782-5B56-9A3C4BF4A634}"/>
          </ac:spMkLst>
        </pc:spChg>
      </pc:sldChg>
      <pc:sldChg chg="modSp mod">
        <pc:chgData name="TOH KE TING" userId="40fef732-b837-491d-b009-18c893e995dd" providerId="ADAL" clId="{5C74FD94-D309-480F-B00B-160A24EA88FD}" dt="2026-03-19T07:58:53.357" v="10922" actId="20577"/>
        <pc:sldMkLst>
          <pc:docMk/>
          <pc:sldMk cId="4232758601" sldId="262"/>
        </pc:sldMkLst>
        <pc:spChg chg="mod">
          <ac:chgData name="TOH KE TING" userId="40fef732-b837-491d-b009-18c893e995dd" providerId="ADAL" clId="{5C74FD94-D309-480F-B00B-160A24EA88FD}" dt="2026-03-19T07:55:20.550" v="10920" actId="113"/>
          <ac:spMkLst>
            <pc:docMk/>
            <pc:sldMk cId="4232758601" sldId="262"/>
            <ac:spMk id="4" creationId="{FEEFA106-3A04-90C8-CAFA-5C7EC1122EC7}"/>
          </ac:spMkLst>
        </pc:spChg>
        <pc:spChg chg="mod">
          <ac:chgData name="TOH KE TING" userId="40fef732-b837-491d-b009-18c893e995dd" providerId="ADAL" clId="{5C74FD94-D309-480F-B00B-160A24EA88FD}" dt="2026-03-19T07:58:53.357" v="10922" actId="20577"/>
          <ac:spMkLst>
            <pc:docMk/>
            <pc:sldMk cId="4232758601" sldId="262"/>
            <ac:spMk id="6" creationId="{3B126C10-F5B9-E420-F786-E4A96FCAF5D7}"/>
          </ac:spMkLst>
        </pc:spChg>
      </pc:sldChg>
      <pc:sldChg chg="modSp mod">
        <pc:chgData name="TOH KE TING" userId="40fef732-b837-491d-b009-18c893e995dd" providerId="ADAL" clId="{5C74FD94-D309-480F-B00B-160A24EA88FD}" dt="2026-03-27T13:58:25.342" v="11015" actId="20577"/>
        <pc:sldMkLst>
          <pc:docMk/>
          <pc:sldMk cId="1957998424" sldId="263"/>
        </pc:sldMkLst>
        <pc:spChg chg="mod">
          <ac:chgData name="TOH KE TING" userId="40fef732-b837-491d-b009-18c893e995dd" providerId="ADAL" clId="{5C74FD94-D309-480F-B00B-160A24EA88FD}" dt="2026-03-27T13:58:25.342" v="11015" actId="20577"/>
          <ac:spMkLst>
            <pc:docMk/>
            <pc:sldMk cId="1957998424" sldId="263"/>
            <ac:spMk id="10" creationId="{4FF4A266-B1B1-E4C1-8255-B8D04E86644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09:58:07.56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0,'0'0,"7"0,30 0,31 0,46 0,39 0,44 0,46 0,39 0,28 0,30 0,23 0,18 0,11 0,19 0,31 0,28 0,6 0,17 0,12 0,15 0,-5 0,3 0,-19 0,-17 0,-19 0,-30 0,-32 0,-18 0,-15 0,-16 0,-9 0,-17 0,0 0,-10 0,-8 0,-9 0,-1 0,-13 0,-8 0,-1 0,-9 0,-7 0,7 0,-6 0,10 0,-3 0,-1 0,0 0,3 0,-1 0,0 0,3 0,-9 0,-2 0,-10 0,1 0,-10 0,-5 0,-7 0,-4 0,1 0,-11 0,0 0,-2 0,-13 0,-3 0,1 0,-9 0,-9 0,-10 0,-15 0,-15 0,-12 0,-15 0,-5 0,-9 0,-4 0,0 0,1 0,0 0,2 0,3 0,3 0,7 0,-4 0,2 0,-9 0,4 0,-8 0,5 0,2 0,-2 0,2 0,1 0,-3 0,10 0,-6 0,4 0,0 0,2 0,-5 0,-1 0,0 0,2 0,-5 0,10 0,-7 0,0 0,3 0,3 0,-1 0,-3 0,0 0,-1 0,-4 0,0 0,-3 0,-3 0,0 0,0 0,-8 0,-2 0,-1 0,0 0,4 0,1 0,0 0,-8 0,-2 0,-4 0,-5 0,3 0,-2 0,2 0,-6 0,3 0,-1 0,3 0,-9 0,3 0,-2 0,1 0,-2 0,2 0,3 0,1 0,4 0,4 0,7 0,4 0,1 0,-7 0,-7 0,0 0,-7 0,-9 0,-1 0,-4 0,-6 0,-1 0,-3 0,3 0,-5 0,4 0,3 0,-4 0,-1 0,-1 0,-1 0,0 0,-1 0,-3 0,3 0,-4 0,6 0,4 0,6 0,-1 0,6 0,4 0,-1 0,-3 0,0 0,-4 0,-2 0,4 0,6 0,5 0,0 0,-3 0,-1 0,-2 0,-3 0,5 0,-5 0,6 0,-4 0,6 0,-1 0,-2 0,-6 0,0 0,-4 0,-3 0,-8 0,2 0,4 0,-1 0,8 0,1 0,3 0,-3 0,1 0,2 0,-8 0,1 0,-7 0,-3 0,4 0,-7 0,2 0,2 0,2 0,4 0,1 0,-7 0,9 0,-2 0,-5 0,-1 0,-3 0,0 0,0 0,-5 0,0 0,-3 0,1 0,0 0,3 0,-3 0,2 0,0 0,-2 0,1 0,-3 0,-3 0,1 0,-2 0,3 0,1 0,0 0,2 0,-7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09:59:21.95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1,'0'0,"0"3,0 17,0 16,0 11,0 16,0 8,0 3,0-1,0-7,0-8,0-11,0-4,0-10,0-5,0-4,0-3,0-2,0-1,0 1,0-1,0 0,0 5,0 12,0 8,0 7,0 6,0 6,0 5,0-6,0 2,0-5,0-5,0-5,0-1,0-5,0 1,0 3,0-2,0 5,0 2,0-2,0 4,0 3,0 3,0 1,0 4,0 1,0-1,0 2,0 4,0 5,0 4,0 6,0 3,0 0,0 3,0 2,0 1,0 2,0-8,0 1,0-6,0-9,0-1,0 0,0-5,0 6,0 1,0 2,0 5,0 0,0-4,0 0,0-2,0 1,0-8,0-1,0 2,0-4,0 3,0 2,0 1,0 3,0 5,0-2,0-1,0 5,0-1,0-4,0-4,0 0,0-6,0-2,0-6,0 1,0-1,0 3,0-2,0 2,0 4,0 7,0 3,0 4,0-5,0-2,0-5,0-4,0-6,0 0,0-3,0 0,0-5,0 1,0 1,0-3,0-2,0 2,0-6,0 2,0-3,0-4,0-1,0-1,0-4,0 1,0-3,0-1,0 4,0 1,0 1,0-1,0-4,0-4,0-1,0-4,0-1,0 0,0-1,0-4,0 0,0 4,0 1,0 4,0 1,0 0,0 2,0 1,0-3,0-1,0 1,0 1,0-2,0 2,0 4,0 2,0 0,0-3,0-2,0-4,0-1,0-1,0-1,0-5,0-1,0 2,0-1,0 2,0 0,0 2,0 0,0 0,0 1,0 3,0 5,0 4,0 6,0 3,0 2,0-1,0 0,0-1,0 0,0 2,0-3,0-2,0 0,0-4,0 1,0-1,0-3,0 5,0-3,0 2,0-4,0 1,0 2,0-3,0 1,0-2,0-3,0 1,0-1,0 2,0-2,0 1,0 4,0-1,0-3,0 1,0-5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0:35:38.13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1,'0'0,"4"0,24 0,22 0,22 0,27 0,29 0,9 0,6 0,8 0,0 0,-8 0,-3 0,-9 0,-6 0,-1 0,-5 0,-2 0,-4 0,-1 0,-7 0,-2 0,-5 0,0 0,-3 0,-15 0,-3 0,-3 0,-11 0,2 0,-5 0,-1 0,4 0,-2 0,11 0,-2 0,10 0,8 0,13 0,11 0,6 0,12 0,5 0,15 0,7 0,5 0,20 0,8 0,5 0,7 0,12 0,-6 0,-2 0,5 0,3 0,-3 0,-4 0,6 0,-9 0,7 0,-3 0,2 0,-3 0,-4 0,-4 0,3 0,-3 0,-12 0,8 0,-6 0,11 0,0 0,-5 0,10 0,-3 0,5 0,9 0,3 0,9 0,10 0,1 0,9 0,8 0,6 0,0 0,3 0,3 0,2 0,2 0,1 0,0 0,1 0,0 0,0 0,0 0,-11 0,4 0,-10 0,-9 0,1 0,-2 0,-12 0,-5 0,-23 0,-10 0,-17 0,-16 0,-11 0,-4 0,-5 0,-15 0,4 0,-1 0,0 0,2 0,2 0,-1 0,7 0,1 0,-1 0,0 0,-2 0,5 0,4 0,0 0,3 0,4 0,3 0,-4 0,8 0,-5 0,-4 0,6 0,-4 0,-4 0,-9 0,-5 0,2 0,-1 0,-5 0,-7 0,-6 0,1 0,-9 0,-3 0,-2 0,-1 0,-6 0,1 0,1 0,0 0,8 0,-3 0,5 0,1 0,5 0,5 0,5 0,-2 0,2 0,2 0,2 0,7 0,1 0,1 0,0 0,-2 0,10 0,-6 0,-1 0,-2 0,-8 0,-1 0,-6 0,0 0,1 0,8 0,-8 0,12 0,6 0,-3 0,0 0,-8 0,-1 0,-7 0,-5 0,-4 0,-15 0,-9 0,0 0,1 0,-8 0,-2 0,-2 0,4 0,-5 0,10 0,6 0,5 0,10 0,-3 0,-4 0,-6 0,-7 0,-4 0,-8 0,-4 0,-5 0,-6 0,1 0,3 0,3 0,4 0,2 0,-3 0,7 0,0 0,2 0,0 0,0 0,-1 0,-5 0,-1 0,-6 0,-4 0,0 0,-3 0,-7 0,2 0,-7 0,-1 0,0 0,-6 0,1 0,7 0,-4 0,-4 0,1 0,1 0,1 0,8 0,-3 0,0 0,-5 0,-5 0,-1 0,-3 0,1 0,-2 0,3 0,4 0,2 0,-2 0,2 0,1 0,-3 0,1 0,-9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0:35:49.73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-35900.69922"/>
      <inkml:brushProperty name="anchorY" value="-1016.00043"/>
      <inkml:brushProperty name="scaleFactor" value="0.5"/>
    </inkml:brush>
  </inkml:definitions>
  <inkml:trace contextRef="#ctx0" brushRef="#br0">0 1,'0'0,"0"9,0 25,0 16,0 36,0 21,0 29,0 11,0 4,0 6,0-3,0-9,0-10,0-20,0-14,0-10,0-19,0-9,0-13,0-9,0-7,0-4,0 7,0-1,0 6,0 3,0 4,0 7,0 9,0 5,0 6,0 9,0 2,0 1,0-1,0-1,0-2,0-6,0-1,0-1,0-5,0 2,0-6,0 3,0 2,0-3,0 7,0-2,0 2,0 1,0-4,0 1,0-5,0-4,0 2,0 2,0-7,0 3,0 1,0 0,0-3,0 4,0-3,0 3,0 4,0-2,0 2,0 3,0-3,0-4,0 2,0-9,0 2,0-2,0-2,0 4,0 0,0-7,0 4,0-2,0 0,0-1,0 5,0-5,0 3,0 6,0-1,0 4,0-1,0-3,0 3,0-3,0-12,0-4,0-6,0-6,0-5,0-2,0-2,0-1,0 0,0 0,0 1,0-1,0 1,0 0,0 0,0 0,0 0,0 0,0 0,0 0,0-5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1:17:47.9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-34159.87109"/>
      <inkml:brushProperty name="anchorY" value="-1015.99994"/>
      <inkml:brushProperty name="scaleFactor" value="0.5"/>
    </inkml:brush>
  </inkml:definitions>
  <inkml:trace contextRef="#ctx0" brushRef="#br0">0 0,'0'0,"0"13,0 31,0 34,0 28,0 32,0 23,0 8,0 6,0-6,0-5,0-14,0-12,0-9,0-16,0-9,0-9,0-7,0-3,0-2,0-8,0 7,0 6,0 8,0 0,0 10,0 3,0 11,0 1,0 5,0-2,0 6,0 0,0 6,0-5,0 2,0 2,0-1,0 11,0 0,0 10,0 8,0 8,0 15,0 9,0 14,0-3,0 11,0-2,0-6,0-7,0-14,0-4,0 0,0-10,0 2,0-9,0-4,0-14,0-9,0-12,0-16,0-10,0-8,0-8,0-2,0-2,0 6,0-1,0 13,0 15,0 10,0 6,0 4,0 14,0-5,0-10,0-11,0-9,0-5,0-12,0-2,0 4,0-7,0 10,0 6,0 9,0 7,0 10,0-3,0-3,0 1,0-11,0-2,0-15,0-3,0-3,0-7,0-2,0 4,0 6,0 3,0 4,0-2,0 5,0-5,0-8,0-5,0-4,0-7,0 0,0-8,0-3,0 2,0-2,0-9,0-1,0 3,0-7,0-5,0-5,0-1,0 9,0 8,0-3,0-4,0-5,0-6,0-1,0-2,0-8,0-3,0-2,0 6,0 7,0 11,0 5,0 11,0 7,0 0,0 6,0 7,0 13,0 8,0 6,0 3,0-5,0-4,0-2,0-4,0-11,0-9,0-3,0-12,0 1,0-10,0 3,0 0,0 1,0 3,0 6,0 7,0-9,0 3,0-8,0 3,0-3,0-5,0-3,0 3,0-3,0-1,0-4,0-1,0 2,0-4,0-1,0 0,0 0,0 2,0-1,0 1,0-4,0 1,0 0,0-4,0 6,0 3,0 1,0 0,0-3,0-7,0 4,0-4,0 3,0-3,0 3,0 4,0 3,0-2,0 1,0 2,0-4,0 1,0-2,0-13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9T07:55:46.83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1,'0'0,"11"0,27 0,20 0,30 0,33 0,24 0,23 0,20 0,16 0,10 0,2 0,3 0,2 0,0 0,-3 0,-10 0,-4 0,-9 0,-2 0,-9 0,-13 0,-8 0,-10 0,-13 0,-1 0,-9 0,-6 0,-1 0,-8 0,-12 0,-7 0,-5 0,-8 0,-6 0,-5 0,1 0,-1 0,-6 0,-2 0,4 0,-9 0,0 0,5 0,1 0,-3 0,1 0,4 0,6 0,-4 0,0 0,3 0,-1 0,0 0,-5 0,-2 0,-1 0,0 0,1 0,1 0,0 0,-4 0,5 0,0 0,-3 0,0 0,0 0,-8 0,0 0,6 0,1 0,-1 0,6 0,0 0,6 0,0 0,-1 0,0 0,-7 0,-1 0,4 0,4 0,0 0,5 0,4 0,7 0,3 0,5 0,5 0,4 0,-1 0,6 0,-3 0,0 0,-3 0,0 0,-4 0,2 0,-8 0,6 0,3 0,-2 0,-6 0,1 0,-3 0,-1 0,-5 0,-2 0,-1 0,-3 0,-9 0,-4 0,-2 0,-6 0,-1 0,-4 0,-7 0,1 0,-2 0,-6 0,4 0,0 0,0 0,0 0,-4 0,4 0,0 0,4 0,-3 0,-1 0,-5 0,3 0,1 0,0 0,5 0,1 0,3 0,-4 0,2 0,4 0,-2 0,3 0,3 0,3 0,6 0,1 0,-2 0,3 0,-1 0,1 0,-1 0,3 0,0 0,0 0,-2 0,3 0,4 0,0 0,-3 0,3 0,-6 0,-2 0,-3 0,4 0,-9 0,0 0,-10 0,1 0,-3 0,-6 0,-2 0,0 0,-5 0,1 0,-4 0,2 0,-3 0,-3 0,-2 0,-2 0,-2 0,4 0,0 0,-1 0,-1 0,0 0,-2 0,0 0,0 0,-1 0,0 0,0 0,-5 0,1 0,-1 0,1 0,2 0,0 0,1 0,1 0,0 0,1 0,-1 0,0 0,0 0,1 0,3 0,1 0,4 0,-1 0,-5 0,-1 0,-3 0,-1 0,1 0,-1 0,-3 0,0 0,0 0,-3 0,5 0,1 0,2 0,1 0,-4 0,4 0,4 0,1 0,5 0,3 0,3 0,2 0,3 0,-5 0,2 0,-5 0,0 0,2 0,-3 0,1 0,-3 0,7 0,1 0,-2 0,1 0,-4 0,1 0,6 0,-4 0,2 0,-3 0,-1 0,2 0,-4 0,6 0,2 0,-3 0,4 0,-3 0,1 0,0 0,-5 0,1 0,-3 0,0 0,2 0,-3 0,2 0,-2 0,1 0,-3 0,-6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2:42:26.29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0,'0'0,"0"25,0 63,0 65,0 57,0 58,0 46,0 36,0 24,0 2,0-23,0-19,0-41,0-43,0-35,0-46,0-36,0-20,0-27,0-3,0 8,0 12,0 7,0 15,0 14,0 26,0-4,0 3,0-2,0-6,0-16,0-11,0 1,0-23,0-4,0 7,0-2,0-3,0 8,0 7,0 10,0-8,0 8,0 3,0-3,0-17,0-5,0-13,0-5,0-15,0-12,0-4,0-6,0 15,0 22,0 11,0 10,0 12,0 9,0 9,0-10,0-4,0-6,0-12,0-10,0-16,0-9,0-13,0-8,0 10,0 7,0 7,0 9,0 17,0-7,0 12,0 1,0 4,0-13,0 1,0-19,0-9,0-8,0-8,0 1,0 9,0 33,0 29,0 16,0 20,0 10,0 8,0-1,0-5,0-10,0-12,0-15,0-9,0-10,0 1,0-2,0 6,0 7,0 4,0 12,0-8,0 0,0 2,0 1,0-16,0-11,0-7,0-18,0-10,0-13,0-5,0 0,0 8,0 2,0 20,0 0,0 6,0 5,0-3,0-7,0 2,0-12,0-13,0-11,0-11,0-6,0 3,0-5,0 17,0 6,0-4,0 14,0 2,0-7,0 2,0-8,0-7,0-9,0-2,0-7,0 0,0-3,0 0,0 0,0 1,0-1,0-7,0 2,0-1,0 1,0 2,0 0,0-3,0-2,0 1,0 4,0-8,0 4,0-9,0 3,0-5,0 4,0 1,0-3,0 4,0 4,0-6,0 2,0-3,0 1,0 3,0-3,0 2,0 2,0 6,0-7,0-5,0 1,0 2,0-3,0 2,0 5,0 3,0 1,0 5,0-8,0-6,0 2,0-1,0 5,0-4,0 1,0 3,0-5,0-4,0 0,0 3,0 5,0-4,0 2,0 5,0 0,0 2,0 4,0 0,0 4,0-11,0 3,0-10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5:48:17.09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0,'0'0,"0"19,0 34,0 35,0 31,0 29,0 20,0 27,0 8,0 4,0 0,0-3,0-15,0-14,0-8,0-11,0-25,0-5,0-16,0-4,0-14,0-6,0-10,0-3,0 0,0 7,0 2,0 8,0 0,0 5,0 10,0 5,0 7,0-4,0 6,0-3,0 0,0-7,0 3,0 10,0 1,0 4,0-7,0 8,0 7,0 9,0 3,0-1,0 0,0-9,0 4,0-13,0 0,0-1,0-4,0 3,0 1,0-3,0-2,0 12,0-3,0 4,0-11,0 1,0-16,0-9,0-9,0-5,0-15,0-7,0-1,0-4,0-1,0 10,0-2,0 6,0 8,0-7,0 7,0-5,0-4,0-11,0 2,0-9,0-2,0 5,0 0,0 6,0 6,0 0,0 4,0 3,0 2,0-2,0-5,0-11,0-9,0-3,0-6,0-6,0 2,0 9,0 9,0 5,0 6,0 7,0-7,0 2,0-8,0-9,0-2,0-2,0-4,0 11,0 20,0 13,0 6,0 8,0 9,0 4,0-5,0-5,0-6,0-1,0-10,0-9,0-2,0-8,0-4,0 2,0-9,0 3,0-6,0-2,0 0,0-6,0 6,0-4,0 0,0 2,0-4,0 6,0-4,0-4,0 6,0-4,0 2,0 1,0 8,0 6,0 7,0-5,0-2,0 2,0-8,0 4,0-2,0 5,0-7,0 0,0-13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5:48:48.43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-22006.58398"/>
      <inkml:brushProperty name="anchorY" value="-12921.66113"/>
      <inkml:brushProperty name="scaleFactor" value="0.5"/>
    </inkml:brush>
  </inkml:definitions>
  <inkml:trace contextRef="#ctx0" brushRef="#br0">0 1,'0'0,"12"0,24 0,23 0,32 0,17 0,14 0,20 0,11 0,1 0,5 0,-7 0,3 0,1 0,-10 0,-3 0,-2 0,5 0,-5 0,-4 0,-10 0,1 0,-13 0,-7 0,-6 0,-4 0,-2 0,-15 0,-6 0,-5 0,-11 0,-1 0,-9 0,-2 0,-7 0,-1 0,-3 0,-4 0,2 0,-7 0,-2 0,-2 0,4 0,10 0,6 0,3 0,4 0,0 0,0 0,1 0,-2 0,5 0,0 0,0 0,8 0,3 0,10 0,-3 0,7 0,8 0,10 0,4 0,7 0,5 0,23 0,12 0,12 0,2 0,14 0,2 0,15 0,4 0,8 0,10 0,-11 0,12 0,-13 0,6 0,0 0,-15 0,-5 0,-7 0,3 0,-7 0,-4 0,7 0,-11 0,-1 0,-3 0,-5 0,-5 0,1 0,-4 0,-11 0,-3 0,-2 0,1 0,1 0,-3 0,-4 0,-3 0,6 0,-2 0,8 0,7 0,8 0,5 0,0 0,2 0,16 0,12 0,16 0,13 0,9 0,28 0,18 0,13 0,17 0,17 0,5 0,-3 0,-2 0,2 0,-3 0,-6 0,-11 0,2 0,-10 0,-3 0,-12 0,-2 0,-10 0,-9 0,-7 0,-15 0,-5 0,-1 0,-15 0,2 0,-2 0,-6 0,0 0,5 0,7 0,5 0,6 0,-6 0,3 0,1 0,2 0,3 0,-3 0,1 0,1 0,2 0,-4 0,1 0,-9 0,-8 0,-5 0,-10 0,-6 0,-9 0,-7 0,0 0,-14 0,7 0,-11 0,-6 0,-15 0,1 0,-7 0,-14 0,4 0,-11 0,-2 0,5 0,1 0,1 0,11 0,10 0,1 0,2 0,16 0,19 0,6 0,12 0,-11 0,-5 0,-15 0,-9 0,-22 0,-5 0,-21 0,-9 0,-11 0,-12 0,-6 0,-3 0,-1 0,-9 0,0 0,-7 0,-3 0,2 0,-4 0,0 0,-1 0,1 0,-4 0,0 0,0 0,2 0,-4 0,2 0,-5 0,7 0,6 0,3 0,10 0,0 0,-1 0,2 0,-3 0,-3 0,-3 0,-3 0,-7 0,4 0,-6 0,-4 0,5 0,-4 0,1 0,-3 0,2 0,1 0,-3 0,-3 0,-4 0,3 0,2 0,-1 0,3 0,-3 0,3 0,-2 0,-3 0,2 0,-2 0,2 0,4 0,-2 0,-2 0,-4 0,3 0,2 0,-5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FCB59A-132A-48D3-ADC2-185664EFED8E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61D40-F5FC-4925-9AA7-4275ED1572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1121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61D40-F5FC-4925-9AA7-4275ED1572A7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0431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61D40-F5FC-4925-9AA7-4275ED1572A7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6029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0067C-955E-A978-D27F-91AEC83E7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02C88-23B4-B368-CED7-F3E967475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FEB2C-242E-74BE-3CE6-E88C1E41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80764-A630-3B73-C70F-00775F01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7D2B-B968-3812-75C7-995B01697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814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48A4-4241-C3D6-1C45-42A3E9BD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DD57A-07B9-4FCB-3CD4-9BBB9B641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80D8B-FE3F-11D2-75B8-EDE4A621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7FB48-D7A9-E2CC-20E5-49E590F1D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35775-7E0C-5C2C-964A-16E0971E0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903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E182D-4B0D-F9BD-B6B7-1821C2C49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52063-C8C0-4514-F776-5B98ECD43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A826F-FACC-1D38-6A18-1B79BF04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0DCEB-CA0F-0992-CB6C-7870EEBC3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754D3-D7DC-81D4-5A4B-40AF2E6C6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846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8750-4121-73CC-71F9-42398E66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32758-82CA-2614-B5E9-F1C50AC97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53EBF-B233-29E0-E446-7CB79D6AA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E066-364E-1C65-A87C-AA82A654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7A78B-A12A-8B09-A85E-C58991487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0BB8E-6F03-0E13-9134-82F04B0D6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745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5AE6-FD83-D835-E0D2-965C17547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F87B8-89AB-ACC3-1E27-5D3659668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141A5-CC43-2111-9EBE-DC10850D0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485F2-5054-9489-E390-EDFA2B152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1D046B-25C2-DDD0-81D2-02B7AD711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B80844-2C6B-79B5-CDC4-8927E22E3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93901C-F768-BA73-FDBB-66B1EC90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AAC7D-53E5-F012-F90C-82C6C442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5649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12DF-ECF1-A5DB-6C49-576AA0C0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95111A-A280-0019-3FB4-4DA0A3D51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E7417-C573-29D7-3D6F-D950160C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C5A2F-8784-34B5-244C-4A079F6D5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5869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695C8-C9EF-3863-1AA7-DF811B44D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31FB0-FCE2-3F03-FAB0-A3DE372E4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D00BD-32C0-03EB-A844-8CB7345CD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8770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39E9-CA01-A1C0-877E-D934DAA6C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028EC-B042-4279-9C1C-F6B0B3E00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21FA4-A1DE-0954-554C-FB89481C5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2928C-768C-E366-8A4F-235A86AE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084A2-27EB-6D2E-7780-DDC68954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E37DE-0272-8E68-61EC-EFE00D85B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6688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2022-2B6F-CABB-4B87-53F78FD42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C78F7E-E78B-94DA-2F82-0A9068F5D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BAF04-5FD1-63B4-6240-B97ECFD9F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FB814-B802-7525-7D98-32762180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34431-00FF-70BE-0181-17FCD4A3C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93DC7-7712-00D0-C788-7782F7A2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502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AA92-96D4-CA58-8955-D55FC9C3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40ACA-E7DE-1D93-35BE-26BED1854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D098A-2E3D-3D3C-5E73-359D0D73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62629-2AF0-8D49-D31E-5B9FE547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D89D3-F615-3261-F078-5AD22D6F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445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B7828B-C59A-9C2A-D8D5-D3BCF933B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BE7EA-4BB7-57D2-0C52-2F246869D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993F7-BA98-3E2C-574A-F58D5D9BA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1BAD2-90A1-D45D-F473-1CF1701E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90522-4A20-5F75-B9A4-0E341C49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199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9D0C8-49B3-92C7-C0D2-F9E4EF32D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A6105-296C-A63A-5A84-36FAD1B94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08A50-45C7-7936-B38A-D4220467E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6948D-67DE-5B41-55F2-396570FE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5D22E-2B7C-4E12-4979-51E30D0BE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039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4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9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F4AA-89D3-3782-5B56-9A3C4BF4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560" y="455351"/>
            <a:ext cx="4559905" cy="2949676"/>
          </a:xfrm>
        </p:spPr>
        <p:txBody>
          <a:bodyPr>
            <a:noAutofit/>
          </a:bodyPr>
          <a:lstStyle/>
          <a:p>
            <a:r>
              <a:rPr lang="en-SG" sz="2400" dirty="0">
                <a:latin typeface="Amasis MT Pro Black" panose="02040A04050005020304" pitchFamily="18" charset="0"/>
              </a:rPr>
              <a:t>Regression Housing Price</a:t>
            </a:r>
            <a:br>
              <a:rPr lang="en-SG" sz="2400" b="1" dirty="0"/>
            </a:br>
            <a:br>
              <a:rPr lang="en-US" sz="2000" b="1" dirty="0"/>
            </a:br>
            <a:r>
              <a:rPr lang="en-US" sz="2000" b="1" dirty="0"/>
              <a:t>Project Overview</a:t>
            </a:r>
            <a:br>
              <a:rPr lang="en-US" sz="2000" b="1" dirty="0"/>
            </a:br>
            <a:r>
              <a:rPr lang="en-US" sz="2000" b="1" dirty="0"/>
              <a:t>Title:</a:t>
            </a:r>
            <a:r>
              <a:rPr lang="en-US" sz="2000" dirty="0"/>
              <a:t> Predicting Housing Prices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Dataset Size:</a:t>
            </a:r>
            <a:r>
              <a:rPr lang="en-US" sz="2000" dirty="0"/>
              <a:t> 545 rows × 8 columns</a:t>
            </a:r>
            <a:br>
              <a:rPr lang="en-US" sz="2000" dirty="0"/>
            </a:br>
            <a:r>
              <a:rPr lang="en-US" sz="2000" b="1" dirty="0"/>
              <a:t>Target Variable:</a:t>
            </a:r>
            <a:r>
              <a:rPr lang="en-US" sz="2000" dirty="0"/>
              <a:t> Price ($)</a:t>
            </a:r>
            <a:br>
              <a:rPr lang="en-US" sz="2000" dirty="0"/>
            </a:br>
            <a:endParaRPr lang="en-SG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83EC8-5E13-8267-5514-B55093727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7741" y="3542940"/>
            <a:ext cx="5458464" cy="2232467"/>
          </a:xfrm>
        </p:spPr>
        <p:txBody>
          <a:bodyPr/>
          <a:lstStyle/>
          <a:p>
            <a:pPr marL="0" indent="0">
              <a:buNone/>
            </a:pPr>
            <a:r>
              <a:rPr lang="en-SG" sz="2000" b="1" dirty="0"/>
              <a:t>Workflow</a:t>
            </a:r>
          </a:p>
          <a:p>
            <a:r>
              <a:rPr lang="en-SG" sz="2000" dirty="0"/>
              <a:t>Clean → Explore → Prepare → Model → Improve</a:t>
            </a:r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SG" sz="2000" b="1" dirty="0"/>
              <a:t>Tools Used</a:t>
            </a:r>
          </a:p>
          <a:p>
            <a:r>
              <a:rPr lang="en-SG" sz="2000" dirty="0"/>
              <a:t>Python, Pandas, Scikit-learn, </a:t>
            </a:r>
            <a:r>
              <a:rPr lang="en-SG" sz="2000" dirty="0" err="1"/>
              <a:t>Optuna</a:t>
            </a:r>
            <a:endParaRPr lang="en-SG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3DA37-81A3-4E93-785F-63282B540D66}"/>
              </a:ext>
            </a:extLst>
          </p:cNvPr>
          <p:cNvSpPr txBox="1"/>
          <p:nvPr/>
        </p:nvSpPr>
        <p:spPr>
          <a:xfrm>
            <a:off x="679028" y="3463812"/>
            <a:ext cx="618743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Data Overview</a:t>
            </a:r>
          </a:p>
          <a:p>
            <a:r>
              <a:rPr lang="en-US" sz="2000" dirty="0"/>
              <a:t>4 Numerical features: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House Area (sqm)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No. of Bedrooms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No. of Toilets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Stories</a:t>
            </a:r>
          </a:p>
          <a:p>
            <a:r>
              <a:rPr lang="en-US" sz="2000" dirty="0"/>
              <a:t>2 Categorical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Renovation Status</a:t>
            </a:r>
          </a:p>
          <a:p>
            <a:r>
              <a:rPr lang="en-US" sz="2000" dirty="0"/>
              <a:t>House ID is an identifier so </a:t>
            </a:r>
            <a:r>
              <a:rPr lang="en-SG" sz="2000" dirty="0"/>
              <a:t>exclude it from </a:t>
            </a:r>
            <a:r>
              <a:rPr lang="en-SG" sz="2000" dirty="0" err="1"/>
              <a:t>modeling</a:t>
            </a:r>
            <a:r>
              <a:rPr lang="en-SG" sz="2000" dirty="0"/>
              <a:t>.</a:t>
            </a:r>
            <a:endParaRPr lang="en-US" sz="2000" dirty="0"/>
          </a:p>
          <a:p>
            <a:endParaRPr lang="en-SG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BD25CFE-BBC4-A9B1-AF73-261D407E8FDF}"/>
                  </a:ext>
                </a:extLst>
              </p14:cNvPr>
              <p14:cNvContentPartPr/>
              <p14:nvPr/>
            </p14:nvContentPartPr>
            <p14:xfrm>
              <a:off x="16733" y="3314701"/>
              <a:ext cx="12158533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BD25CFE-BBC4-A9B1-AF73-261D407E8F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33" y="3305701"/>
                <a:ext cx="12176173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87C070-63EA-4D82-0749-F0FBE538116F}"/>
                  </a:ext>
                </a:extLst>
              </p14:cNvPr>
              <p14:cNvContentPartPr/>
              <p14:nvPr/>
            </p14:nvContentPartPr>
            <p14:xfrm>
              <a:off x="6588761" y="3315061"/>
              <a:ext cx="360" cy="3542939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87C070-63EA-4D82-0749-F0FBE53811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79761" y="3306061"/>
                <a:ext cx="18000" cy="3560578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1F67F4-7CAF-7522-7454-700F64D26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795796"/>
              </p:ext>
            </p:extLst>
          </p:nvPr>
        </p:nvGraphicFramePr>
        <p:xfrm>
          <a:off x="4711473" y="396566"/>
          <a:ext cx="7206931" cy="2809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16764">
                  <a:extLst>
                    <a:ext uri="{9D8B030D-6E8A-4147-A177-3AD203B41FA5}">
                      <a16:colId xmlns:a16="http://schemas.microsoft.com/office/drawing/2014/main" val="3269544267"/>
                    </a:ext>
                  </a:extLst>
                </a:gridCol>
                <a:gridCol w="882530">
                  <a:extLst>
                    <a:ext uri="{9D8B030D-6E8A-4147-A177-3AD203B41FA5}">
                      <a16:colId xmlns:a16="http://schemas.microsoft.com/office/drawing/2014/main" val="502267886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208884142"/>
                    </a:ext>
                  </a:extLst>
                </a:gridCol>
                <a:gridCol w="879566">
                  <a:extLst>
                    <a:ext uri="{9D8B030D-6E8A-4147-A177-3AD203B41FA5}">
                      <a16:colId xmlns:a16="http://schemas.microsoft.com/office/drawing/2014/main" val="4099058417"/>
                    </a:ext>
                  </a:extLst>
                </a:gridCol>
                <a:gridCol w="705394">
                  <a:extLst>
                    <a:ext uri="{9D8B030D-6E8A-4147-A177-3AD203B41FA5}">
                      <a16:colId xmlns:a16="http://schemas.microsoft.com/office/drawing/2014/main" val="3843672642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1252265664"/>
                    </a:ext>
                  </a:extLst>
                </a:gridCol>
                <a:gridCol w="1323703">
                  <a:extLst>
                    <a:ext uri="{9D8B030D-6E8A-4147-A177-3AD203B41FA5}">
                      <a16:colId xmlns:a16="http://schemas.microsoft.com/office/drawing/2014/main" val="176197503"/>
                    </a:ext>
                  </a:extLst>
                </a:gridCol>
                <a:gridCol w="878883">
                  <a:extLst>
                    <a:ext uri="{9D8B030D-6E8A-4147-A177-3AD203B41FA5}">
                      <a16:colId xmlns:a16="http://schemas.microsoft.com/office/drawing/2014/main" val="4104145377"/>
                    </a:ext>
                  </a:extLst>
                </a:gridCol>
              </a:tblGrid>
              <a:tr h="360614"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House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House Area (sqm)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No. of Bedroom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No. of Toilets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Renovation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Price 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549336"/>
                  </a:ext>
                </a:extLst>
              </a:tr>
              <a:tr h="166966"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742.0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300" dirty="0"/>
                        <a:t>Furnished</a:t>
                      </a:r>
                    </a:p>
                    <a:p>
                      <a:pPr algn="ctr"/>
                      <a:endParaRPr lang="en-SG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1330000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896246"/>
                  </a:ext>
                </a:extLst>
              </a:tr>
              <a:tr h="140840"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Denver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896.0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300" dirty="0"/>
                        <a:t>Furnished</a:t>
                      </a:r>
                    </a:p>
                    <a:p>
                      <a:pPr algn="ctr"/>
                      <a:endParaRPr lang="en-SG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1225000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391684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996.0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300" dirty="0"/>
                        <a:t>Semi-furnished</a:t>
                      </a:r>
                    </a:p>
                    <a:p>
                      <a:pPr algn="ctr"/>
                      <a:endParaRPr lang="en-SG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1225000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27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Seattle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750.0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300" dirty="0"/>
                        <a:t>Furnished</a:t>
                      </a:r>
                    </a:p>
                    <a:p>
                      <a:pPr algn="ctr"/>
                      <a:endParaRPr lang="en-SG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1221500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577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742.0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Furnished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1141000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260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68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C7E02-FA7C-FB63-10A7-57A68CAE3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521880"/>
            <a:ext cx="9938066" cy="354542"/>
          </a:xfrm>
        </p:spPr>
        <p:txBody>
          <a:bodyPr>
            <a:noAutofit/>
          </a:bodyPr>
          <a:lstStyle/>
          <a:p>
            <a:r>
              <a:rPr lang="en-US" altLang="en-US" sz="2400" b="1" dirty="0">
                <a:latin typeface="Arial" panose="020B0604020202020204" pitchFamily="34" charset="0"/>
              </a:rPr>
              <a:t>Data Exploration</a:t>
            </a:r>
            <a:endParaRPr lang="en-SG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EFA106-3A04-90C8-CAFA-5C7EC1122E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4511" y="987879"/>
            <a:ext cx="1128195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House prices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generally increase as the number of bedrooms increases.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3-bedroom houses have the highest maximum price (1,225,000) and the widest value range.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samples for 1- and 6-bedroom houses → interpret cautiously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Some cities have significantly higher average prices: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Denver ($504,590) and Chicago ($503,851)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Seattle ($459,351) and New York ($464,753)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3.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 plots show extreme high-end outliers in 2-, 3-, and 4-bedroom groups.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Furnished houses tend to be more expensive than semi-furnished or unfurnished.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No missing values</a:t>
            </a:r>
            <a:r>
              <a:rPr lang="en-US" altLang="en-US" sz="2000" dirty="0">
                <a:latin typeface="Arial" panose="020B0604020202020204" pitchFamily="34" charset="0"/>
              </a:rPr>
              <a:t> and all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types are correct.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126C10-F5B9-E420-F786-E4A96FCAF5D7}"/>
              </a:ext>
            </a:extLst>
          </p:cNvPr>
          <p:cNvSpPr txBox="1"/>
          <p:nvPr/>
        </p:nvSpPr>
        <p:spPr>
          <a:xfrm>
            <a:off x="6229895" y="4564370"/>
            <a:ext cx="58855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Outlier Handling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Removed outliers in 2-, 3-, 4-bedroom groups using </a:t>
            </a:r>
            <a:r>
              <a:rPr lang="en-US" altLang="en-US" sz="2000" b="1" dirty="0">
                <a:latin typeface="Arial" panose="020B0604020202020204" pitchFamily="34" charset="0"/>
              </a:rPr>
              <a:t>iterative IQR method</a:t>
            </a:r>
          </a:p>
          <a:p>
            <a:r>
              <a:rPr lang="en-US" altLang="en-US" sz="2000" dirty="0">
                <a:latin typeface="Arial" panose="020B0604020202020204" pitchFamily="34" charset="0"/>
              </a:rPr>
              <a:t>Other bedroom groups left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unchanged </a:t>
            </a:r>
            <a:r>
              <a:rPr lang="en-SG" sz="2000" dirty="0">
                <a:latin typeface="Arial" panose="020B0604020202020204" pitchFamily="34" charset="0"/>
                <a:cs typeface="Arial" panose="020B0604020202020204" pitchFamily="34" charset="0"/>
              </a:rPr>
              <a:t>due to either very small sample sizes or no outliers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Resulting dataset reduced from 545 → 529 rows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28AFFE-0FA9-351C-21E9-6EE56DFCB718}"/>
              </a:ext>
            </a:extLst>
          </p:cNvPr>
          <p:cNvSpPr txBox="1"/>
          <p:nvPr/>
        </p:nvSpPr>
        <p:spPr>
          <a:xfrm>
            <a:off x="389106" y="4540471"/>
            <a:ext cx="59601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Visuals Used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Histogram:</a:t>
            </a:r>
            <a:r>
              <a:rPr lang="en-US" altLang="en-US" sz="2000" dirty="0">
                <a:latin typeface="Arial" panose="020B0604020202020204" pitchFamily="34" charset="0"/>
              </a:rPr>
              <a:t> Distribution of House Prices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Scatter Plot:</a:t>
            </a:r>
            <a:r>
              <a:rPr lang="en-US" altLang="en-US" sz="2000" dirty="0">
                <a:latin typeface="Arial" panose="020B0604020202020204" pitchFamily="34" charset="0"/>
              </a:rPr>
              <a:t> Price vs House Area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Box Plot:</a:t>
            </a:r>
            <a:r>
              <a:rPr lang="en-US" altLang="en-US" sz="2000" dirty="0">
                <a:latin typeface="Arial" panose="020B0604020202020204" pitchFamily="34" charset="0"/>
              </a:rPr>
              <a:t> Price vs Number of Bedrooms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Bar Chart:</a:t>
            </a:r>
            <a:r>
              <a:rPr lang="en-US" altLang="en-US" sz="2000" dirty="0">
                <a:latin typeface="Arial" panose="020B0604020202020204" pitchFamily="34" charset="0"/>
              </a:rPr>
              <a:t> Average Price by City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Bar Chart:</a:t>
            </a:r>
            <a:r>
              <a:rPr lang="en-US" altLang="en-US" sz="2000" dirty="0">
                <a:latin typeface="Arial" panose="020B0604020202020204" pitchFamily="34" charset="0"/>
              </a:rPr>
              <a:t> Average Price by Renovation Status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00AD287-6CAA-3608-F9B2-906F03024D47}"/>
                  </a:ext>
                </a:extLst>
              </p14:cNvPr>
              <p14:cNvContentPartPr/>
              <p14:nvPr/>
            </p14:nvContentPartPr>
            <p14:xfrm>
              <a:off x="12055" y="4271784"/>
              <a:ext cx="1217152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00AD287-6CAA-3608-F9B2-906F03024D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5" y="4263144"/>
                <a:ext cx="121891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ABECB45-72B8-6A3B-4774-66B1C50CEB60}"/>
                  </a:ext>
                </a:extLst>
              </p14:cNvPr>
              <p14:cNvContentPartPr/>
              <p14:nvPr/>
            </p14:nvContentPartPr>
            <p14:xfrm>
              <a:off x="6095640" y="4269435"/>
              <a:ext cx="360" cy="2593485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ABECB45-72B8-6A3B-4774-66B1C50CEB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86640" y="4260795"/>
                <a:ext cx="18000" cy="26111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2758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82C41-BB5F-E2CA-984F-B965E0A07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814" y="518293"/>
            <a:ext cx="10515600" cy="681355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Arial" panose="020B0604020202020204" pitchFamily="34" charset="0"/>
              </a:rPr>
              <a:t>Feature Preparation &amp; Engineering</a:t>
            </a:r>
            <a:endParaRPr lang="en-SG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901C89-AE2F-2E9E-D238-2EB9D5E71A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0367" y="1555876"/>
            <a:ext cx="5297495" cy="1917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b="1" dirty="0"/>
              <a:t>Categorical Features</a:t>
            </a:r>
          </a:p>
          <a:p>
            <a:pPr marL="0" indent="0">
              <a:buNone/>
            </a:pPr>
            <a:r>
              <a:rPr lang="en-US" sz="2000" b="1" dirty="0"/>
              <a:t>Features: </a:t>
            </a:r>
            <a:r>
              <a:rPr lang="en-US" sz="2000" dirty="0"/>
              <a:t>City, Renovation Status</a:t>
            </a:r>
          </a:p>
          <a:p>
            <a:pPr marL="0" indent="0">
              <a:buNone/>
            </a:pPr>
            <a:r>
              <a:rPr lang="en-US" sz="2000" b="1" dirty="0"/>
              <a:t>Action: </a:t>
            </a:r>
            <a:r>
              <a:rPr lang="en-US" sz="2000" dirty="0"/>
              <a:t>One-Hot Encoding applied (drop first to avoid multicollinearity)</a:t>
            </a:r>
          </a:p>
          <a:p>
            <a:pPr marL="0" indent="0">
              <a:buNone/>
            </a:pPr>
            <a:r>
              <a:rPr lang="en-US" sz="2000" dirty="0"/>
              <a:t>Converts text labels into numeric inputs 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FC9D2-1C93-E69E-52B0-34C42B20BFE0}"/>
              </a:ext>
            </a:extLst>
          </p:cNvPr>
          <p:cNvSpPr txBox="1"/>
          <p:nvPr/>
        </p:nvSpPr>
        <p:spPr>
          <a:xfrm>
            <a:off x="6172200" y="1492386"/>
            <a:ext cx="57827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Numeric Features</a:t>
            </a:r>
          </a:p>
          <a:p>
            <a:endParaRPr lang="en-US" sz="800" b="1" dirty="0"/>
          </a:p>
          <a:p>
            <a:r>
              <a:rPr lang="en-US" sz="2000" b="1" dirty="0"/>
              <a:t>Features:</a:t>
            </a:r>
            <a:r>
              <a:rPr lang="en-US" sz="2000" dirty="0"/>
              <a:t> House Area, Bedrooms, Toilets, Stories</a:t>
            </a:r>
          </a:p>
          <a:p>
            <a:endParaRPr lang="en-US" sz="800" dirty="0"/>
          </a:p>
          <a:p>
            <a:r>
              <a:rPr lang="en-US" sz="2000" b="1" dirty="0"/>
              <a:t>Action:</a:t>
            </a:r>
            <a:r>
              <a:rPr lang="en-US" sz="2000" dirty="0"/>
              <a:t> </a:t>
            </a:r>
            <a:r>
              <a:rPr lang="en-US" sz="2000" dirty="0" err="1"/>
              <a:t>StandardScaler</a:t>
            </a:r>
            <a:r>
              <a:rPr lang="en-US" sz="2000" dirty="0"/>
              <a:t> applied (mean=0, std=1)</a:t>
            </a:r>
          </a:p>
          <a:p>
            <a:pPr algn="r"/>
            <a:endParaRPr lang="en-US" sz="800" dirty="0"/>
          </a:p>
          <a:p>
            <a:r>
              <a:rPr lang="en-US" sz="2000" dirty="0"/>
              <a:t>Numeric features scaled ✅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972A55-F0A4-2E1B-AD3D-0E08D6411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785770"/>
              </p:ext>
            </p:extLst>
          </p:nvPr>
        </p:nvGraphicFramePr>
        <p:xfrm>
          <a:off x="735423" y="3829552"/>
          <a:ext cx="4590415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02168">
                  <a:extLst>
                    <a:ext uri="{9D8B030D-6E8A-4147-A177-3AD203B41FA5}">
                      <a16:colId xmlns:a16="http://schemas.microsoft.com/office/drawing/2014/main" val="2165899689"/>
                    </a:ext>
                  </a:extLst>
                </a:gridCol>
                <a:gridCol w="1492377">
                  <a:extLst>
                    <a:ext uri="{9D8B030D-6E8A-4147-A177-3AD203B41FA5}">
                      <a16:colId xmlns:a16="http://schemas.microsoft.com/office/drawing/2014/main" val="3405463614"/>
                    </a:ext>
                  </a:extLst>
                </a:gridCol>
                <a:gridCol w="1495870">
                  <a:extLst>
                    <a:ext uri="{9D8B030D-6E8A-4147-A177-3AD203B41FA5}">
                      <a16:colId xmlns:a16="http://schemas.microsoft.com/office/drawing/2014/main" val="3717752728"/>
                    </a:ext>
                  </a:extLst>
                </a:gridCol>
              </a:tblGrid>
              <a:tr h="260779">
                <a:tc>
                  <a:txBody>
                    <a:bodyPr/>
                    <a:lstStyle/>
                    <a:p>
                      <a:pPr algn="ctr"/>
                      <a:r>
                        <a:rPr lang="en-SG" dirty="0" err="1"/>
                        <a:t>City_C</a:t>
                      </a:r>
                      <a:r>
                        <a:rPr lang="en-US" altLang="zh-CN" dirty="0" err="1"/>
                        <a:t>hicago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err="1"/>
                        <a:t>City_Denver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err="1"/>
                        <a:t>City_Seattle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139666"/>
                  </a:ext>
                </a:extLst>
              </a:tr>
              <a:tr h="260779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17657"/>
                  </a:ext>
                </a:extLst>
              </a:tr>
              <a:tr h="260779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41611"/>
                  </a:ext>
                </a:extLst>
              </a:tr>
              <a:tr h="260779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014114"/>
                  </a:ext>
                </a:extLst>
              </a:tr>
              <a:tr h="260779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28788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2025A6E-AE1F-EBEA-9990-9D6506490D73}"/>
                  </a:ext>
                </a:extLst>
              </p14:cNvPr>
              <p14:cNvContentPartPr/>
              <p14:nvPr/>
            </p14:nvContentPartPr>
            <p14:xfrm>
              <a:off x="5948414" y="17000"/>
              <a:ext cx="360" cy="6841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2025A6E-AE1F-EBEA-9990-9D6506490D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39414" y="8000"/>
                <a:ext cx="18000" cy="685864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FF4A266-B1B1-E4C1-8255-B8D04E866442}"/>
              </a:ext>
            </a:extLst>
          </p:cNvPr>
          <p:cNvSpPr txBox="1"/>
          <p:nvPr/>
        </p:nvSpPr>
        <p:spPr>
          <a:xfrm>
            <a:off x="6172200" y="3473324"/>
            <a:ext cx="60198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latin typeface="+mj-lt"/>
              </a:rPr>
              <a:t>Pipelines for Models</a:t>
            </a:r>
          </a:p>
          <a:p>
            <a:r>
              <a:rPr lang="en-SG" sz="2000" dirty="0">
                <a:latin typeface="+mj-lt"/>
              </a:rPr>
              <a:t>Each  model uses the same preprocessing pipeline.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b="1" dirty="0">
                <a:latin typeface="+mj-lt"/>
              </a:rPr>
              <a:t>Linear R</a:t>
            </a:r>
            <a:r>
              <a:rPr lang="en-US" altLang="zh-CN" sz="2000" b="1">
                <a:latin typeface="+mj-lt"/>
              </a:rPr>
              <a:t>egression</a:t>
            </a:r>
            <a:r>
              <a:rPr lang="en-SG" sz="2000" b="1">
                <a:latin typeface="+mj-lt"/>
              </a:rPr>
              <a:t>, </a:t>
            </a:r>
            <a:r>
              <a:rPr lang="en-SG" sz="2000" b="1" dirty="0">
                <a:latin typeface="+mj-lt"/>
              </a:rPr>
              <a:t>Ridge, Lasso, SVR </a:t>
            </a:r>
          </a:p>
          <a:p>
            <a:r>
              <a:rPr lang="en-SG" sz="2000" b="1" dirty="0">
                <a:latin typeface="+mj-lt"/>
              </a:rPr>
              <a:t>       </a:t>
            </a:r>
            <a:r>
              <a:rPr lang="en-US" sz="2000" dirty="0">
                <a:latin typeface="+mj-lt"/>
              </a:rPr>
              <a:t>→ scaling required</a:t>
            </a:r>
            <a:endParaRPr lang="en-SG" sz="20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b="1" dirty="0">
                <a:latin typeface="+mj-lt"/>
              </a:rPr>
              <a:t>Decision Tree, Random Forest, Gradient Boosting </a:t>
            </a:r>
          </a:p>
          <a:p>
            <a:r>
              <a:rPr lang="en-SG" sz="2000" b="1" dirty="0">
                <a:latin typeface="+mj-lt"/>
              </a:rPr>
              <a:t>       </a:t>
            </a:r>
            <a:r>
              <a:rPr lang="en-US" sz="2000" dirty="0">
                <a:latin typeface="+mj-lt"/>
              </a:rPr>
              <a:t>→ scaling not required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000" dirty="0">
              <a:latin typeface="+mj-lt"/>
            </a:endParaRPr>
          </a:p>
          <a:p>
            <a:r>
              <a:rPr lang="en-SG" sz="2000" dirty="0">
                <a:latin typeface="+mj-lt"/>
              </a:rPr>
              <a:t>Preprocessor + model combined in a single pipeline ensures consistent preprocessing</a:t>
            </a:r>
            <a:r>
              <a:rPr lang="zh-CN" altLang="en-US" sz="2000" dirty="0">
                <a:latin typeface="+mj-lt"/>
              </a:rPr>
              <a:t> </a:t>
            </a:r>
            <a:r>
              <a:rPr lang="en-SG" sz="2000" dirty="0">
                <a:latin typeface="+mj-lt"/>
              </a:rPr>
              <a:t>✅</a:t>
            </a:r>
            <a:endParaRPr lang="en-US" altLang="en-US" sz="2000" b="1" dirty="0">
              <a:latin typeface="+mj-lt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2BF4505-EE3A-3C3C-B311-D8C3A774A4B4}"/>
                  </a:ext>
                </a:extLst>
              </p14:cNvPr>
              <p14:cNvContentPartPr/>
              <p14:nvPr/>
            </p14:nvContentPartPr>
            <p14:xfrm>
              <a:off x="5960507" y="3380307"/>
              <a:ext cx="6231493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2BF4505-EE3A-3C3C-B311-D8C3A774A4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51507" y="3371667"/>
                <a:ext cx="6249133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7998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AB28-29C9-4CCD-9356-73694E9F8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530"/>
            <a:ext cx="10515600" cy="665632"/>
          </a:xfrm>
        </p:spPr>
        <p:txBody>
          <a:bodyPr>
            <a:normAutofit/>
          </a:bodyPr>
          <a:lstStyle/>
          <a:p>
            <a:r>
              <a:rPr lang="en-SG" sz="2400" b="1" dirty="0"/>
              <a:t>Model Training &amp; Comparison</a:t>
            </a:r>
            <a:endParaRPr lang="en-SG" sz="2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0A62CED-FD6D-F23C-2A04-BE1852A9AF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7403768"/>
              </p:ext>
            </p:extLst>
          </p:nvPr>
        </p:nvGraphicFramePr>
        <p:xfrm>
          <a:off x="1007527" y="1295430"/>
          <a:ext cx="6061055" cy="30733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33062">
                  <a:extLst>
                    <a:ext uri="{9D8B030D-6E8A-4147-A177-3AD203B41FA5}">
                      <a16:colId xmlns:a16="http://schemas.microsoft.com/office/drawing/2014/main" val="1884511749"/>
                    </a:ext>
                  </a:extLst>
                </a:gridCol>
                <a:gridCol w="1559105">
                  <a:extLst>
                    <a:ext uri="{9D8B030D-6E8A-4147-A177-3AD203B41FA5}">
                      <a16:colId xmlns:a16="http://schemas.microsoft.com/office/drawing/2014/main" val="3936827839"/>
                    </a:ext>
                  </a:extLst>
                </a:gridCol>
                <a:gridCol w="1665870">
                  <a:extLst>
                    <a:ext uri="{9D8B030D-6E8A-4147-A177-3AD203B41FA5}">
                      <a16:colId xmlns:a16="http://schemas.microsoft.com/office/drawing/2014/main" val="2188753417"/>
                    </a:ext>
                  </a:extLst>
                </a:gridCol>
                <a:gridCol w="1003018">
                  <a:extLst>
                    <a:ext uri="{9D8B030D-6E8A-4147-A177-3AD203B41FA5}">
                      <a16:colId xmlns:a16="http://schemas.microsoft.com/office/drawing/2014/main" val="4055000355"/>
                    </a:ext>
                  </a:extLst>
                </a:gridCol>
              </a:tblGrid>
              <a:tr h="608271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Mean Squared Error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Mean Absolute Error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R²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509809"/>
                  </a:ext>
                </a:extLst>
              </a:tr>
              <a:tr h="352157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107,961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82,175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0.573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878039"/>
                  </a:ext>
                </a:extLst>
              </a:tr>
              <a:tr h="352157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108,196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82,413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0.571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423870"/>
                  </a:ext>
                </a:extLst>
              </a:tr>
              <a:tr h="352157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108,196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82,413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0.571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547114"/>
                  </a:ext>
                </a:extLst>
              </a:tr>
              <a:tr h="352157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110,678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82,594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0.551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720537"/>
                  </a:ext>
                </a:extLst>
              </a:tr>
              <a:tr h="352157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117,346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85,058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0.495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050540"/>
                  </a:ext>
                </a:extLst>
              </a:tr>
              <a:tr h="352157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159,158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120,918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0.072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51303"/>
                  </a:ext>
                </a:extLst>
              </a:tr>
              <a:tr h="352157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170,753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128,188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/>
                        <a:t>-0.068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35623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D8CFD88-E9C5-E53A-788E-4763B8DCE575}"/>
              </a:ext>
            </a:extLst>
          </p:cNvPr>
          <p:cNvSpPr txBox="1"/>
          <p:nvPr/>
        </p:nvSpPr>
        <p:spPr>
          <a:xfrm>
            <a:off x="746188" y="4473052"/>
            <a:ext cx="65005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Best Models</a:t>
            </a:r>
            <a:r>
              <a:rPr lang="en-US" sz="2000" dirty="0"/>
              <a:t>: Ridge Regression was selected because it best captures the relationship between features and house prices, explains ~57% of variance.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Reasoning:</a:t>
            </a:r>
            <a:r>
              <a:rPr lang="en-US" sz="2000" dirty="0"/>
              <a:t> Linear models suit this dataset due to moderately linear feature-price relationships. Regularization in Ridge reduces overfitting.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FD86E7-A280-E6D5-CB17-5FE3D93CBD99}"/>
              </a:ext>
            </a:extLst>
          </p:cNvPr>
          <p:cNvSpPr txBox="1"/>
          <p:nvPr/>
        </p:nvSpPr>
        <p:spPr>
          <a:xfrm>
            <a:off x="2553593" y="895321"/>
            <a:ext cx="3192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altLang="zh-CN" sz="2000" b="1" dirty="0"/>
              <a:t>Performance</a:t>
            </a:r>
            <a:r>
              <a:rPr lang="en-US" altLang="zh-CN" sz="2000" b="1" dirty="0"/>
              <a:t>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CA16C-2700-5A44-0055-A0DF017FF94B}"/>
              </a:ext>
            </a:extLst>
          </p:cNvPr>
          <p:cNvSpPr txBox="1"/>
          <p:nvPr/>
        </p:nvSpPr>
        <p:spPr>
          <a:xfrm>
            <a:off x="7695296" y="1905112"/>
            <a:ext cx="4428611" cy="3279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Hyperparameter Tuning with </a:t>
            </a:r>
            <a:r>
              <a:rPr lang="en-SG" sz="2000" b="1" dirty="0" err="1"/>
              <a:t>Optuna</a:t>
            </a:r>
            <a:endParaRPr lang="en-SG" sz="2000" b="1" dirty="0"/>
          </a:p>
          <a:p>
            <a:r>
              <a:rPr lang="en-SG" sz="2000" dirty="0"/>
              <a:t>Optimized Ridge for RMSE</a:t>
            </a:r>
          </a:p>
          <a:p>
            <a:r>
              <a:rPr lang="en-SG" sz="2000" dirty="0"/>
              <a:t>(TPE sampler, 100 trials, 5-fold CV)  </a:t>
            </a:r>
          </a:p>
          <a:p>
            <a:pPr>
              <a:lnSpc>
                <a:spcPct val="150000"/>
              </a:lnSpc>
            </a:pPr>
            <a:r>
              <a:rPr lang="en-SG" sz="2000" dirty="0"/>
              <a:t>Best alpha: 32.16 </a:t>
            </a:r>
          </a:p>
          <a:p>
            <a:pPr>
              <a:lnSpc>
                <a:spcPct val="150000"/>
              </a:lnSpc>
            </a:pPr>
            <a:r>
              <a:rPr lang="en-SG" sz="2000" dirty="0"/>
              <a:t>CV RMSE: 116552.77  </a:t>
            </a:r>
          </a:p>
          <a:p>
            <a:pPr>
              <a:lnSpc>
                <a:spcPct val="150000"/>
              </a:lnSpc>
            </a:pPr>
            <a:r>
              <a:rPr lang="en-SG" sz="2000" b="1" dirty="0"/>
              <a:t>RMSE</a:t>
            </a:r>
            <a:r>
              <a:rPr lang="en-SG" sz="2000" dirty="0"/>
              <a:t> ↓ (107,961 </a:t>
            </a:r>
            <a:r>
              <a:rPr lang="en-US" sz="2000" dirty="0"/>
              <a:t>→</a:t>
            </a:r>
            <a:r>
              <a:rPr lang="en-SG" sz="2000" dirty="0"/>
              <a:t> 104,136.63) </a:t>
            </a:r>
          </a:p>
          <a:p>
            <a:pPr>
              <a:lnSpc>
                <a:spcPct val="150000"/>
              </a:lnSpc>
            </a:pPr>
            <a:r>
              <a:rPr lang="en-SG" sz="2000" b="1" dirty="0"/>
              <a:t>MAE</a:t>
            </a:r>
            <a:r>
              <a:rPr lang="en-SG" sz="2000" dirty="0"/>
              <a:t>    ↓ (82,175 </a:t>
            </a:r>
            <a:r>
              <a:rPr lang="en-US" sz="2000" dirty="0"/>
              <a:t>→</a:t>
            </a:r>
            <a:r>
              <a:rPr lang="en-SG" sz="2000" dirty="0"/>
              <a:t> 77,767.01)  </a:t>
            </a:r>
          </a:p>
          <a:p>
            <a:pPr>
              <a:lnSpc>
                <a:spcPct val="150000"/>
              </a:lnSpc>
            </a:pPr>
            <a:r>
              <a:rPr lang="en-SG" sz="2000" b="1" dirty="0"/>
              <a:t>R²</a:t>
            </a:r>
            <a:r>
              <a:rPr lang="en-SG" sz="2000" dirty="0"/>
              <a:t>         ↑ (0.573</a:t>
            </a:r>
            <a:r>
              <a:rPr lang="en-US" sz="2000" dirty="0"/>
              <a:t>  →</a:t>
            </a:r>
            <a:r>
              <a:rPr lang="en-SG" sz="2000" dirty="0"/>
              <a:t> 0.603)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CAA4C5-8CB7-FB0D-9314-511EFB8B2392}"/>
                  </a:ext>
                </a:extLst>
              </p14:cNvPr>
              <p14:cNvContentPartPr/>
              <p14:nvPr/>
            </p14:nvContentPartPr>
            <p14:xfrm>
              <a:off x="7570332" y="25214"/>
              <a:ext cx="360" cy="6832785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CAA4C5-8CB7-FB0D-9314-511EFB8B23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61332" y="16214"/>
                <a:ext cx="18000" cy="68504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3471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32D3C-1E82-F74C-9F39-9541F5028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7" y="344214"/>
            <a:ext cx="10515600" cy="591608"/>
          </a:xfrm>
        </p:spPr>
        <p:txBody>
          <a:bodyPr>
            <a:normAutofit/>
          </a:bodyPr>
          <a:lstStyle/>
          <a:p>
            <a:r>
              <a:rPr lang="en-SG" sz="2400" b="1" dirty="0"/>
              <a:t>Optimization &amp; Results</a:t>
            </a:r>
            <a:endParaRPr lang="en-SG" sz="2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E8063-A781-5EA4-FA01-D7A7FC2C1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6121" y="920553"/>
            <a:ext cx="4483190" cy="4161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Feature Engineering</a:t>
            </a:r>
          </a:p>
          <a:p>
            <a:pPr marL="0" indent="0">
              <a:buNone/>
            </a:pPr>
            <a:r>
              <a:rPr lang="en-US" sz="1800" dirty="0"/>
              <a:t>Added derived features to capture non-linear and interaction effects: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Stories × </a:t>
            </a:r>
            <a:r>
              <a:rPr lang="en-US" sz="1800" b="1">
                <a:solidFill>
                  <a:srgbClr val="FF0000"/>
                </a:solidFill>
              </a:rPr>
              <a:t>House Area</a:t>
            </a:r>
            <a:br>
              <a:rPr lang="en-US" sz="1800" b="1" dirty="0"/>
            </a:br>
            <a:r>
              <a:rPr lang="en-SG" sz="1800" b="1" dirty="0"/>
              <a:t>→</a:t>
            </a:r>
            <a:r>
              <a:rPr lang="en-US" sz="1800" dirty="0"/>
              <a:t> combined effect of size and stories.</a:t>
            </a:r>
          </a:p>
          <a:p>
            <a:r>
              <a:rPr lang="en-US" sz="1800" b="1" dirty="0" err="1">
                <a:solidFill>
                  <a:srgbClr val="FF0000"/>
                </a:solidFill>
              </a:rPr>
              <a:t>Large_House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br>
              <a:rPr lang="en-US" sz="1800" dirty="0"/>
            </a:br>
            <a:r>
              <a:rPr lang="en-SG" sz="1800" b="1" dirty="0"/>
              <a:t>→</a:t>
            </a:r>
            <a:r>
              <a:rPr lang="en-SG" sz="1800" dirty="0"/>
              <a:t> </a:t>
            </a:r>
            <a:r>
              <a:rPr lang="en-US" sz="1800" dirty="0"/>
              <a:t>indicator if area &gt; 600 sqm.</a:t>
            </a:r>
          </a:p>
          <a:p>
            <a:r>
              <a:rPr lang="en-US" sz="1800" b="1" dirty="0" err="1">
                <a:solidFill>
                  <a:srgbClr val="FF0000"/>
                </a:solidFill>
              </a:rPr>
              <a:t>Area_per_Bedroom</a:t>
            </a:r>
            <a:r>
              <a:rPr lang="en-US" sz="1800" dirty="0"/>
              <a:t> and </a:t>
            </a:r>
            <a:r>
              <a:rPr lang="en-US" sz="1800" b="1" dirty="0" err="1">
                <a:solidFill>
                  <a:srgbClr val="FF0000"/>
                </a:solidFill>
              </a:rPr>
              <a:t>Area_per_Toilet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SG" sz="1800" b="1" dirty="0"/>
              <a:t>→</a:t>
            </a:r>
            <a:r>
              <a:rPr lang="en-US" sz="1800" b="1" dirty="0"/>
              <a:t> </a:t>
            </a:r>
            <a:r>
              <a:rPr lang="en-US" sz="1800" dirty="0"/>
              <a:t>average space allocation.</a:t>
            </a:r>
          </a:p>
          <a:p>
            <a:r>
              <a:rPr lang="en-US" sz="1800" b="1" dirty="0" err="1">
                <a:solidFill>
                  <a:srgbClr val="FF0000"/>
                </a:solidFill>
              </a:rPr>
              <a:t>Stories_per_Area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br>
              <a:rPr lang="en-US" sz="1800" b="1" dirty="0"/>
            </a:br>
            <a:r>
              <a:rPr lang="en-SG" sz="1800" b="1" dirty="0"/>
              <a:t>→</a:t>
            </a:r>
            <a:r>
              <a:rPr lang="en-US" sz="1800" dirty="0"/>
              <a:t> ratio of stories to house area.</a:t>
            </a:r>
          </a:p>
          <a:p>
            <a:r>
              <a:rPr lang="en-US" sz="1800" b="1" dirty="0" err="1">
                <a:solidFill>
                  <a:srgbClr val="FF0000"/>
                </a:solidFill>
              </a:rPr>
              <a:t>log_Area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br>
              <a:rPr lang="en-US" sz="1800" b="1" dirty="0"/>
            </a:br>
            <a:r>
              <a:rPr lang="en-SG" sz="1800" b="1" dirty="0"/>
              <a:t>→</a:t>
            </a:r>
            <a:r>
              <a:rPr lang="en-US" sz="1800" dirty="0"/>
              <a:t> log transformation to reduce skewness.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E10B9F-780C-4D18-737B-0CB35B76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371810"/>
              </p:ext>
            </p:extLst>
          </p:nvPr>
        </p:nvGraphicFramePr>
        <p:xfrm>
          <a:off x="601132" y="1215030"/>
          <a:ext cx="6785786" cy="3017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75038">
                  <a:extLst>
                    <a:ext uri="{9D8B030D-6E8A-4147-A177-3AD203B41FA5}">
                      <a16:colId xmlns:a16="http://schemas.microsoft.com/office/drawing/2014/main" val="2211294747"/>
                    </a:ext>
                  </a:extLst>
                </a:gridCol>
                <a:gridCol w="2210748">
                  <a:extLst>
                    <a:ext uri="{9D8B030D-6E8A-4147-A177-3AD203B41FA5}">
                      <a16:colId xmlns:a16="http://schemas.microsoft.com/office/drawing/2014/main" val="38030195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F</a:t>
                      </a:r>
                      <a:r>
                        <a:rPr lang="en-US" altLang="zh-CN" sz="1200" dirty="0" err="1"/>
                        <a:t>eature</a:t>
                      </a:r>
                      <a:endParaRPr lang="en-SG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Coefficient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0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b="1" dirty="0"/>
                        <a:t>House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SG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62469.981518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651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b="1" dirty="0"/>
                        <a:t>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45928.084345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03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b="1" dirty="0"/>
                        <a:t>No. of Toilets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45037.604249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460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b="1" dirty="0"/>
                        <a:t>No. of 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14358.328939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267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b="1" dirty="0" err="1"/>
                        <a:t>City_New</a:t>
                      </a:r>
                      <a:r>
                        <a:rPr lang="en-SG" sz="1200" b="1" dirty="0"/>
                        <a:t>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-1416.849192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384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b="1" dirty="0" err="1"/>
                        <a:t>City_Seattle</a:t>
                      </a:r>
                      <a:endParaRPr lang="en-SG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-2163.668502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217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b="1" dirty="0" err="1"/>
                        <a:t>City_Denver</a:t>
                      </a:r>
                      <a:endParaRPr lang="en-SG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-6131.464115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453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b="1" dirty="0"/>
                        <a:t>Renovation </a:t>
                      </a:r>
                      <a:r>
                        <a:rPr lang="en-SG" sz="1200" b="1" dirty="0" err="1"/>
                        <a:t>Status_semi</a:t>
                      </a:r>
                      <a:r>
                        <a:rPr lang="en-SG" sz="1200" b="1" dirty="0"/>
                        <a:t>-furnished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-8074.704342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681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b="1" dirty="0" err="1"/>
                        <a:t>City_Chicago</a:t>
                      </a:r>
                      <a:endParaRPr lang="en-SG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-8113.719379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510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b="1" dirty="0" err="1"/>
                        <a:t>Status_unfurnished</a:t>
                      </a:r>
                      <a:endParaRPr lang="en-SG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-55132.329144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4362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14ED8C-A61B-71F7-B28D-23B1F0E37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745109"/>
              </p:ext>
            </p:extLst>
          </p:nvPr>
        </p:nvGraphicFramePr>
        <p:xfrm>
          <a:off x="601132" y="5228097"/>
          <a:ext cx="4517771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36917">
                  <a:extLst>
                    <a:ext uri="{9D8B030D-6E8A-4147-A177-3AD203B41FA5}">
                      <a16:colId xmlns:a16="http://schemas.microsoft.com/office/drawing/2014/main" val="4003880990"/>
                    </a:ext>
                  </a:extLst>
                </a:gridCol>
                <a:gridCol w="1506855">
                  <a:extLst>
                    <a:ext uri="{9D8B030D-6E8A-4147-A177-3AD203B41FA5}">
                      <a16:colId xmlns:a16="http://schemas.microsoft.com/office/drawing/2014/main" val="135106950"/>
                    </a:ext>
                  </a:extLst>
                </a:gridCol>
                <a:gridCol w="2273999">
                  <a:extLst>
                    <a:ext uri="{9D8B030D-6E8A-4147-A177-3AD203B41FA5}">
                      <a16:colId xmlns:a16="http://schemas.microsoft.com/office/drawing/2014/main" val="677484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Baseline (</a:t>
                      </a:r>
                      <a:r>
                        <a:rPr lang="el-GR" sz="1400" dirty="0"/>
                        <a:t>α=1.0</a:t>
                      </a:r>
                      <a:r>
                        <a:rPr lang="en-SG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Tuned + Features (</a:t>
                      </a:r>
                      <a:r>
                        <a:rPr lang="el-GR" sz="1400" dirty="0"/>
                        <a:t>α≈6.52)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346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104,947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102,816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992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80,323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77,794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29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0.596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0.613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4872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5349D22-BDDD-268A-DD82-F814B4822038}"/>
              </a:ext>
            </a:extLst>
          </p:cNvPr>
          <p:cNvSpPr txBox="1"/>
          <p:nvPr/>
        </p:nvSpPr>
        <p:spPr>
          <a:xfrm>
            <a:off x="288513" y="4240394"/>
            <a:ext cx="72560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Renovation Status &amp; House Area </a:t>
            </a:r>
            <a:r>
              <a:rPr lang="en-US" dirty="0"/>
              <a:t>→ most predictive for house prices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Stories &amp; No. of Toilets                       </a:t>
            </a:r>
            <a:r>
              <a:rPr lang="en-US" dirty="0"/>
              <a:t>→ moderate influence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Number of Bedrooms &amp; City           </a:t>
            </a:r>
            <a:r>
              <a:rPr lang="en-US" dirty="0"/>
              <a:t>→ lower contribution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637423-552F-12C8-B8C6-6F03F93F98AD}"/>
              </a:ext>
            </a:extLst>
          </p:cNvPr>
          <p:cNvSpPr txBox="1"/>
          <p:nvPr/>
        </p:nvSpPr>
        <p:spPr>
          <a:xfrm>
            <a:off x="5266263" y="5502661"/>
            <a:ext cx="69088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Baseline vs Tuned Ridge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RMSE</a:t>
            </a:r>
            <a:r>
              <a:rPr lang="en-SG" dirty="0"/>
              <a:t> ↓ (104,947 → 102,816) → predictions closer to actual prices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MAE</a:t>
            </a:r>
            <a:r>
              <a:rPr lang="en-SG" dirty="0"/>
              <a:t>    ↓ (80,323 → 77,794)      → median error reduced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R²</a:t>
            </a:r>
            <a:r>
              <a:rPr lang="en-SG" dirty="0"/>
              <a:t>         ↑ (0.596 → 0.613)           → better variance explained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8E55245-0B14-0075-010D-838F6208BB97}"/>
                  </a:ext>
                </a:extLst>
              </p14:cNvPr>
              <p14:cNvContentPartPr/>
              <p14:nvPr/>
            </p14:nvContentPartPr>
            <p14:xfrm>
              <a:off x="7601371" y="25154"/>
              <a:ext cx="360" cy="5113352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8E55245-0B14-0075-010D-838F6208BB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92731" y="16154"/>
                <a:ext cx="18000" cy="5130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595F09C-E5E5-BA55-DA68-C92C965DAE0B}"/>
                  </a:ext>
                </a:extLst>
              </p14:cNvPr>
              <p14:cNvContentPartPr/>
              <p14:nvPr/>
            </p14:nvContentPartPr>
            <p14:xfrm>
              <a:off x="18021" y="5139226"/>
              <a:ext cx="12173979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595F09C-E5E5-BA55-DA68-C92C965DAE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21" y="5130586"/>
                <a:ext cx="12191619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C1B3280-8F80-5C6F-746E-C5CA3434FB28}"/>
              </a:ext>
            </a:extLst>
          </p:cNvPr>
          <p:cNvSpPr txBox="1"/>
          <p:nvPr/>
        </p:nvSpPr>
        <p:spPr>
          <a:xfrm>
            <a:off x="591620" y="888223"/>
            <a:ext cx="2254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/>
              <a:t>Feature Importance</a:t>
            </a:r>
          </a:p>
        </p:txBody>
      </p:sp>
    </p:spTree>
    <p:extLst>
      <p:ext uri="{BB962C8B-B14F-4D97-AF65-F5344CB8AC3E}">
        <p14:creationId xmlns:p14="http://schemas.microsoft.com/office/powerpoint/2010/main" val="294897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</TotalTime>
  <Words>845</Words>
  <Application>Microsoft Office PowerPoint</Application>
  <PresentationFormat>Widescreen</PresentationFormat>
  <Paragraphs>216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Amasis MT Pro Black</vt:lpstr>
      <vt:lpstr>Aptos</vt:lpstr>
      <vt:lpstr>Aptos Display</vt:lpstr>
      <vt:lpstr>Arial</vt:lpstr>
      <vt:lpstr>Office Theme</vt:lpstr>
      <vt:lpstr>Regression Housing Price  Project Overview Title: Predicting Housing Prices  Dataset Size: 545 rows × 8 columns Target Variable: Price ($) </vt:lpstr>
      <vt:lpstr>Data Exploration</vt:lpstr>
      <vt:lpstr>Feature Preparation &amp; Engineering</vt:lpstr>
      <vt:lpstr>Model Training &amp; Comparison</vt:lpstr>
      <vt:lpstr>Optimization &amp;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TOH KE TING</dc:creator>
  <cp:lastModifiedBy>TOH KE TING</cp:lastModifiedBy>
  <cp:revision>1</cp:revision>
  <dcterms:created xsi:type="dcterms:W3CDTF">2025-11-19T13:08:45Z</dcterms:created>
  <dcterms:modified xsi:type="dcterms:W3CDTF">2026-03-27T13:58:25Z</dcterms:modified>
</cp:coreProperties>
</file>